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(0:00-0:30)
"Buenos días. Gracias por acompañarnos. Soy [nombre] de [empresa]. Hoy vamos a ver cómo llevar la simulación gerencial al siguiente nivel en sus programas de Administración. Al final hay demo en vivo y una propuesta de piloto gratuito."
"Pueden hacer preguntas en el chat en cualquier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(0:30-1:00)
"Miren todo lo que vamos a cubrir: arrancamos con el problema (por qué la teoría sola no alcanza), luego vemos qué dice el CNA, qué es un simulador, les hago demo en vivo, revisamos los 5 simuladores que tenemos, cómo implementarlo paso a paso, resultados reales con casos, la alineación con acreditación, y cerramos con el piloto gratuito."
"Es un recorrido completo.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QUIÉNES SOMOS (1:00-2:00)
"Somos distribuidores autorizados de simuladores de negocios para universidades en Colombia. Tenemos 5 simuladores especializados que se usan en más de 30 países. ASCOLFA, la Asociación Colombiana de Facultades de Administración, agrupa 162 facultades — ese es nuestro mercado."
"Nuestro diferencial: estamos en Colombia, hablamos su idioma, y damos soporte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(2:00-3:30)
"Piensen en esto: la gran mayoría de sus egresados se gradúan sin haber tomado una sola decisión gerencial real."
"¿Por qué? Porque el aula tradicional está diseñada para ANALIZAR, no para DECIDIR. Leemos casos, debatimos, presentamos... pero el estudiante nunca vive la presión de tomar una decisión con consecuencias."
"Médicos practican con pacientes simulados antes de tocar a un paciente real. Pilotos de avión pasan cientos de horas en simulador. ¿Y los futuros gerentes de Colombia?"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(3:30-5:00)
"Miren las dos columnas. A la izquierda, lo que hacemos hoy en la mayoría de programas: casos escritos (muchos de hace 20 años, de empresas gringas), debate, examen. A la derecha, con simulador: el estudiante ES el gerente."
"No digo que los casos sean malos. Son excelentes. Pero combinados con un simulador, el aprendizaje se multiplica. Primero enseñas la teoría, luego el estudiante la aplica."
"La pregunta no es caso O simulador. Es caso Y simulador."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CNA (5:00-7:00)
"Si su programa está en proceso de acreditación o renovación de acreditación, esto les interesa mucho."
"El CNA exige estrategias de aprendizaje activo. No es opcional — es una condición de calidad. Y lo que quieren ver son cuatro cosas: aprendizaje activo documentado, competencias medibles, trabajo colaborativo y uso de tecnología educativa."
"¿Saben qué herramienta cumple las cuatro al mismo tiempo? Un simulador de negocios."
"El simulador genera datos automáticamente: dashboards, rankings, decisiones por equipo. Es evidencia lista para el informe de acreditación."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PRESIÓN ACREDITACIÓN (7:00-8:00)
"Estas son las preguntas que hacen los pares evaluadores del CNA. Créanme, las he escuchado de directores de programa que nos han contactado justo por esto."
"Si su respuesta es 'damos clase magistral y ponemos exámenes', tienen un problema. Si su respuesta es 'usamos un simulador de negocios donde los estudiantes dirigen una empresa virtual por equipos y tenemos datos que lo demuestran', tienen una ventaja."
"El simulador no solo enseña mejor: genera la evidencia que el CNA necesita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ESTUDIANTE (8:00-8:30)
"Este es un comentario real de un estudiante que usó simulación en su curso de Estrategia. 'Aprendí más en 8 rondas que en todo un semestre.' Fuerte, ¿no?"
"Y es que cuando el estudiante vive las consecuencias de sus decisiones — cuando 'quiebra' su empresa virtual por no controlar el flujo de caja — ese aprendizaje no se olvida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ES (8:30-10:00)
"Un simulador de negocios tiene tres componentes: es una plataforma 100% web (no hay que instalar nada), simula una empresa con estados financieros reales, y le da al profesor un dashboard completo."
"Los estudiantes trabajan en equipos de 4-5 personas. Cada equipo dirige una empresa. Toman decisiones cada ronda: precio, producción, inversión en I+D, marketing, contratación. El simulador procesa TODAS las decisiones y genera resultados de mercado."
"Es competitivo: las decisiones de un equipo afectan a los demás. Si bajan el precio, te roban mercado. Si invierten en I+D, mejoran su producto. Exactamente como en la vida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FUNCIONA (10:00-11:30)
"Cuatro pasos. Paso 1: los estudiantes forman equipos de 4-5 y reciben una empresa. Paso 2: cada ronda toman decisiones — precio, producción, inversión, marketing. Paso 3: el simulador procesa las decisiones de TODOS y genera resultados. Paso 4: al final del ciclo, cada equipo presenta su estrategia como si fuera un board meeting."
"Un ciclo típico: 6-10 rondas. Cada ronda puede ser una sesión de clase o una tarea entre sesiones."
"Ahora les voy a mostrar esto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DECISIONES (11:30-12:30)
"Miren la profundidad: no es un jueguito. Los estudiantes toman decisiones en las 5 áreas funcionales de una empresa real: mercadeo, producción, finanzas, recursos humanos y estrategia."
"Cada decisión tiene consecuencias. Si produces demasiado y no vendes, te quedas con inventario y tu flujo de caja se deteriora. Si bajas precios sin controlar costos, ganas mercado pero pierdes margen."
"Eso es exactamente lo que vive un gerente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COMPETENCIAS (12:30-13:30)
"Estas son las competencias que desarrolla: pensamiento estratégico, toma de decisiones, trabajo en equipo, análisis financiero, pensamiento sistémico y competitividad."
"Todas son competencias que el CNA evalúa y que el mercado laboral exige. Y todas son difíciles de desarrollar con una clase magistral."
"El simulador no las desarrolla mágicamente: las PRACTICA. El estudiante las ejercita ronda tras ronda."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PROFESOR (13:30-14:30)
"Esto es lo que ustedes como profesores ven. No es solo 'los estudiantes juegan': el profesor tiene control total."
"Ranking en tiempo real, las decisiones de cada equipo, estados financieros completos, métricas exportables para rúbricas y acreditación, y un historial completo del semestre."
"Cada ronda genera material para discusión en clase: '¿Por qué el equipo 3 bajó el precio?' '¿Cuál fue el impacto en su margen?' Eso es aprendizaje activo documentado."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DEL PROFESOR (14:30-15:00)
"Una preocupación común: '¿Necesito ser experto en tecnología?' No. El simulador es web e intuitivo. La capacitación dura 2 horas."
"Su rol cambia de expositor a facilitador. En lugar de dar una clase magistral, usted guía la discusión: '¿Por qué tomaron esa decisión?' '¿Qué harían diferente?' Eso es pedagogía de alto nivel."
"Ahora sí, vamos a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(15:00-30:00)
[COMPARTIR PANTALLA - ABRIR COMPANYGAME]
GUIÓN DE LA DEMO:
1. (2 min) Mostrar interfaz del estudiante: dashboard de la empresa, estados financieros iniciales.
2. (3 min) Tomar decisiones en equipo con la audiencia: '¿Subimos o bajamos el precio? ¿Cuánto producimos? ¿Invertimos en I+D?' Hacer preguntas al chat.
3. (2 min) Procesar la ronda y mostrar resultados: market share, ingresos, utilidad.
4. (2 min) Mostrar ranking entre equipos: '¡Miren, el equipo 2 nos superó porque invirtió en marketing!'
5. (3 min) Mostrar el dashboard del profesor: ranking, decisiones por equipo, estados financieros.
6. (3 min) Mostrar un error a propósito: 'Vamos a producir el triple sin demanda... miren qué le pasa al inventario y al flujo de caja.' Eso genera el 'aha moment'.
TIPS:
- Haz preguntas al chat: genera engagement.
- Enfatiza la competencia entre equipos.
- Cierra mostrando el dashboard del profesor: 'Estos son los datos que usted usa para evaluar y para acreditación.'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SIMULADORES (30:00-32:00)
"Tenemos 5 simuladores, cada uno diseñado para asignaturas diferentes."
"CompanyGame es nuestro buque insignia: gestión integral de empresa, ideal para Simulación Gerencial y Estrategia. Es el que acaban de ver en la demo."
"SimVenture Evolution es para emprendimiento: el estudiante crea una empresa desde cero. Validate es para validar ideas con metodología Lean Startup."
"SimProject es para Gerencia de Proyectos: alcance, tiempo, costo y riesgos. Y SimAgile es para metodologías ágiles y Scrum."
"La clave: el simulador debe encajar en una asignatura EXISTENTE. No necesitan crear una nueva."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(32:00-34:00)
"Así se ve un semestre completo con simulación. Semana 0: capacitamos al profesor. Semana 1: clase introductoria. Semanas 2-3: ronda de práctica sin nota para que se familiaricen. Semanas 4-11: las 8 rondas con nota, una por semana, con discusión post-ronda. Semana 12: presentación final tipo board meeting. Y semanas 13-16: evaluación y recolección de métricas."
"El esfuerzo del profesor es mínimo: 1 hora por semana para facilitar la discusión y revisar el dashboard. El simulador hace el trabajo pesado."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OBJECIONES (34:00-36:00)
"Antes de los resultados, déjenme abordar las preocupaciones más comunes que escucho."
[Leer cada una rápidamente, enfatizando las respuestas clave]
"La respuesta corta a todas: el piloto es gratis, la capacitación dura 2 horas, no hay que cambiar el plan de estudios, y los estudiantes se enganchan solos por la competencia."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(36:00-37:00)
"Los números hablan. Nota promedio de 4.2, satisfacción del 92%, el triple de profesores piden usarlo después de ver un piloto, y el 85% de los pilotos se convierten en licencias pagas."
"¿Por qué? Porque los resultados se ven en el aula. No necesitan confiar en mí: confíen en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1 (37:00-38:30)
"Les comparto un caso concreto. Un profesor de Dirección Estratégica usaba solo casos de Harvard. Integró CompanyGame como el 40% de la evaluación."
"Resultado: la nota promedio subió 0.6 puntos, la evaluación docente mejoró significativamente, el 92% de los estudiantes dijeron que fue la materia más práctica, y 3 profesores más pidieron usar el simulador."
"Pero lo más importante para el director del programa: el dashboard generó evidencia documentada para el informe de acreditación CNA."
"El profesor no cambió su curso: lo potenció con una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2 (38:30-39:30)
"Segundo caso: una profesora de Emprendimiento usó SimVenture Evolution. Los estudiantes crearon una empresa virtual desde cero: producto, empleados, flujo de caja, marketing."
"Lo que más impactó: los estudiantes entendieron flujo de caja POR PRIMERA VEZ. Cuando tu empresa virtual quiebra porque no controlaste la caja, ese aprendizaje no se olvida."
"Resultado: aprobación subió del 78 al 94%, el centro de emprendimiento pidió integrar el simulador, y 3 equipos crearon microempresas reales inspiradas en la experiencia."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TESTIMONIAL PROFESOR (39:30-40:00)
"Este es el testimonio de un profesor que llevaba 10 años con Excel y casos. Integró CompanyGame y dice que fue el mejor semestre de su carrera docente."
"'Los estudiantes aprendieron más, yo trabajé menos, y tengo datos para demostrarlo.' Eso resume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CNA (40:00-41:00)
"Para los que están en proceso de acreditación: esto es lo que el simulador genera automáticamente como evidencia."
[Recorrer rápidamente los 6 puntos]
"Todo esto sale del dashboard sin que el profesor tenga que hacer nada adicional. Es evidencia lista para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PILOTO GRATUITO (41:00-42:30)
"Aquí viene la propuesta. Ofrecemos un piloto completamente gratuito."
[Recorrer los 6 puntos]
"¿Qué necesitamos de ustedes? Solo tres cosas: un curso (idealmente Simulación Gerencial, Estrategia o Emprendimiento), un profesor motivado, y máximo 30 estudiantes."
"El piloto es nuestra mejor carta de presentación. Si funciona, los resultados hablan solos y la universidad compra. Si no funciona, no perdieron nada."
"El 85% de nuestros pilotos se convierten en licencias pagas. Eso les dice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PRÓXIMOS PASOS (43:00-43:30)
"Si les interesa, así de rápido es. Hoy me escriben, esta semana les envío acceso de prueba, la semana 1 los capacitamos, la semana 2 dan la clase intro, y la semana 3 ya están simulando."
"En total, del primer contacto a la primera ronda de simulación: 2-3 semanas. Así de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(43:30-44:30)
PREGUNTAS FRECUENTES:
P: ¿En qué idioma está? R: CompanyGame en español. SimVenture en inglés con guías en español.
P: ¿Necesita internet? R: Sí, 100% web. Solo navegador e internet.
P: ¿Funciona con Moodle? R: Es plataforma independiente, pero los resultados se exportan.
P: ¿Cuánto tiempo toma implementar? R: Capacitación 2h, accesos en 48h, primera ronda la semana siguiente.
P: ¿Cuántos estudiantes máximo? R: Depende del simulador, pero típicamente hasta 200 por curso/competencia.
P: ¿Hay versión móvil? R: Es responsive, funciona en tablet y móvil, pero recomendamos computador para mejor experiencia.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(44:30-45:00)
"Muchas gracias por su tiempo. Espero que la demo les haya dado una idea clara de lo que puede hacer un simulador en su aula."
"Mis datos están en pantalla. Si les interesa el piloto, escríbanme por correo, WhatsApp o LinkedIn."
"Les envío la grabación del webinar y la presentación por correo a todos los registrados."
"¡Excelente día y nos vemos pronto!"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13C"/>
        </a:solidFill>
      </p:bgPr>
    </p:bg>
    <p:spTree>
      <p:nvGrpSpPr>
        <p:cNvPr id="1" name=""/>
        <p:cNvGrpSpPr/>
        <p:nvPr/>
      </p:nvGrpSpPr>
      <p:grpSpPr>
        <a:xfrm>
          <a:off x="0" y="0"/>
          <a:ext cx="0" cy="0"/>
          <a:chOff x="0" y="0"/>
          <a:chExt cx="0" cy="0"/>
        </a:xfrm>
      </p:grpSpPr>
      <p:sp>
        <p:nvSpPr>
          <p:cNvPr id="2" name="Shape 0"/>
          <p:cNvSpPr/>
          <p:nvPr/>
        </p:nvSpPr>
        <p:spPr>
          <a:xfrm>
            <a:off x="731520" y="548640"/>
            <a:ext cx="7680960" cy="4023360"/>
          </a:xfrm>
          <a:prstGeom prst="roundRect">
            <a:avLst>
              <a:gd name="adj" fmla="val 4545"/>
            </a:avLst>
          </a:prstGeom>
          <a:solidFill>
            <a:srgbClr val="49C5B1">
              <a:alpha val="85000"/>
            </a:srgbClr>
          </a:solidFill>
          <a:ln/>
        </p:spPr>
      </p:sp>
      <p:sp>
        <p:nvSpPr>
          <p:cNvPr id="3" name="Text 1"/>
          <p:cNvSpPr/>
          <p:nvPr/>
        </p:nvSpPr>
        <p:spPr>
          <a:xfrm>
            <a:off x="914400" y="731520"/>
            <a:ext cx="7315200" cy="201168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Simulación gerencial</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en el aula</a:t>
            </a:r>
            <a:endParaRPr lang="en-US" sz="4000" dirty="0"/>
          </a:p>
        </p:txBody>
      </p:sp>
      <p:sp>
        <p:nvSpPr>
          <p:cNvPr id="4" name="Text 2"/>
          <p:cNvSpPr/>
          <p:nvPr/>
        </p:nvSpPr>
        <p:spPr>
          <a:xfrm>
            <a:off x="914400" y="2651760"/>
            <a:ext cx="7315200" cy="548640"/>
          </a:xfrm>
          <a:prstGeom prst="rect">
            <a:avLst/>
          </a:prstGeom>
          <a:noFill/>
          <a:ln/>
        </p:spPr>
        <p:txBody>
          <a:bodyPr wrap="square" rtlCol="0" anchor="ctr"/>
          <a:lstStyle/>
          <a:p>
            <a:pPr indent="0" marL="0">
              <a:buNone/>
            </a:pPr>
            <a:r>
              <a:rPr lang="en-US" sz="2000" b="1" dirty="0">
                <a:solidFill>
                  <a:srgbClr val="49C5B1"/>
                </a:solidFill>
                <a:latin typeface="Arial" pitchFamily="34" charset="0"/>
                <a:ea typeface="Arial" pitchFamily="34" charset="-122"/>
                <a:cs typeface="Arial" pitchFamily="34" charset="-120"/>
              </a:rPr>
              <a:t>Del caso de papel al simulador digital</a:t>
            </a:r>
            <a:endParaRPr lang="en-US" sz="2000" dirty="0"/>
          </a:p>
        </p:txBody>
      </p:sp>
      <p:sp>
        <p:nvSpPr>
          <p:cNvPr id="5" name="Text 3"/>
          <p:cNvSpPr/>
          <p:nvPr/>
        </p:nvSpPr>
        <p:spPr>
          <a:xfrm>
            <a:off x="914400" y="3291840"/>
            <a:ext cx="7315200" cy="457200"/>
          </a:xfrm>
          <a:prstGeom prst="rect">
            <a:avLst/>
          </a:prstGeom>
          <a:noFill/>
          <a:ln/>
        </p:spPr>
        <p:txBody>
          <a:bodyPr wrap="square" rtlCol="0" anchor="ctr"/>
          <a:lstStyle/>
          <a:p>
            <a:pPr indent="0" marL="0">
              <a:buNone/>
            </a:pPr>
            <a:r>
              <a:rPr lang="en-US" sz="1400" dirty="0">
                <a:solidFill>
                  <a:srgbClr val="CCCCCC"/>
                </a:solidFill>
                <a:latin typeface="Arial" pitchFamily="34" charset="0"/>
                <a:ea typeface="Arial" pitchFamily="34" charset="-122"/>
                <a:cs typeface="Arial" pitchFamily="34" charset="-120"/>
              </a:rPr>
              <a:t>Webinar gratuito · Jueves 16 de julio, 2026 · 10:00 AM (hora Colombia)</a:t>
            </a:r>
            <a:endParaRPr lang="en-US" sz="1400" dirty="0"/>
          </a:p>
        </p:txBody>
      </p:sp>
      <p:sp>
        <p:nvSpPr>
          <p:cNvPr id="6" name="Text 4"/>
          <p:cNvSpPr/>
          <p:nvPr/>
        </p:nvSpPr>
        <p:spPr>
          <a:xfrm>
            <a:off x="914400" y="3840480"/>
            <a:ext cx="7315200" cy="457200"/>
          </a:xfrm>
          <a:prstGeom prst="rect">
            <a:avLst/>
          </a:prstGeom>
          <a:noFill/>
          <a:ln/>
        </p:spPr>
        <p:txBody>
          <a:bodyPr wrap="square" rtlCol="0" anchor="ctr"/>
          <a:lstStyle/>
          <a:p>
            <a:pPr indent="0" marL="0">
              <a:buNone/>
            </a:pPr>
            <a:r>
              <a:rPr lang="en-US" sz="1400" dirty="0">
                <a:solidFill>
                  <a:srgbClr val="AAAAAA"/>
                </a:solidFill>
                <a:latin typeface="Arial" pitchFamily="34" charset="0"/>
                <a:ea typeface="Arial" pitchFamily="34" charset="-122"/>
                <a:cs typeface="Arial" pitchFamily="34" charset="-120"/>
              </a:rPr>
              <a:t>[Tu nombre] · [Empresa]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lIns="0" tIns="0" rIns="0" bIns="0" rtlCol="0" anchor="ctr"/>
          <a:lstStyle/>
          <a:p>
            <a:pPr indent="0" marL="0">
              <a:buNone/>
            </a:pPr>
            <a:r>
              <a:rPr lang="en-US" sz="3600" b="1" dirty="0">
                <a:solidFill>
                  <a:srgbClr val="1C213C"/>
                </a:solidFill>
                <a:latin typeface="Arial" pitchFamily="34" charset="0"/>
                <a:ea typeface="Arial" pitchFamily="34" charset="-122"/>
                <a:cs typeface="Arial" pitchFamily="34" charset="-120"/>
              </a:rPr>
              <a:t>Agenda</a:t>
            </a:r>
            <a:endParaRPr lang="en-US" sz="3600" dirty="0"/>
          </a:p>
        </p:txBody>
      </p:sp>
      <p:sp>
        <p:nvSpPr>
          <p:cNvPr id="3" name="Shape 1"/>
          <p:cNvSpPr/>
          <p:nvPr/>
        </p:nvSpPr>
        <p:spPr>
          <a:xfrm>
            <a:off x="640080" y="1097280"/>
            <a:ext cx="7863840" cy="338328"/>
          </a:xfrm>
          <a:prstGeom prst="roundRect">
            <a:avLst>
              <a:gd name="adj" fmla="val 16216"/>
            </a:avLst>
          </a:prstGeom>
          <a:solidFill>
            <a:srgbClr val="F5F7FA"/>
          </a:solidFill>
          <a:ln/>
        </p:spPr>
      </p:sp>
      <p:sp>
        <p:nvSpPr>
          <p:cNvPr id="4" name="Text 2"/>
          <p:cNvSpPr/>
          <p:nvPr/>
        </p:nvSpPr>
        <p:spPr>
          <a:xfrm>
            <a:off x="822960" y="1097280"/>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01</a:t>
            </a:r>
            <a:endParaRPr lang="en-US" sz="1300" dirty="0"/>
          </a:p>
        </p:txBody>
      </p:sp>
      <p:sp>
        <p:nvSpPr>
          <p:cNvPr id="5" name="Text 3"/>
          <p:cNvSpPr/>
          <p:nvPr/>
        </p:nvSpPr>
        <p:spPr>
          <a:xfrm>
            <a:off x="1371600" y="1097280"/>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El reto: teoría vs práctica en Administración</a:t>
            </a:r>
            <a:endParaRPr lang="en-US" sz="1300" dirty="0"/>
          </a:p>
        </p:txBody>
      </p:sp>
      <p:sp>
        <p:nvSpPr>
          <p:cNvPr id="6" name="Shape 4"/>
          <p:cNvSpPr/>
          <p:nvPr/>
        </p:nvSpPr>
        <p:spPr>
          <a:xfrm>
            <a:off x="640080" y="1481328"/>
            <a:ext cx="7863840" cy="338328"/>
          </a:xfrm>
          <a:prstGeom prst="roundRect">
            <a:avLst>
              <a:gd name="adj" fmla="val 16216"/>
            </a:avLst>
          </a:prstGeom>
          <a:solidFill>
            <a:srgbClr val="FFFFFF"/>
          </a:solidFill>
          <a:ln/>
        </p:spPr>
      </p:sp>
      <p:sp>
        <p:nvSpPr>
          <p:cNvPr id="7" name="Text 5"/>
          <p:cNvSpPr/>
          <p:nvPr/>
        </p:nvSpPr>
        <p:spPr>
          <a:xfrm>
            <a:off x="822960" y="1481328"/>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02</a:t>
            </a:r>
            <a:endParaRPr lang="en-US" sz="1300" dirty="0"/>
          </a:p>
        </p:txBody>
      </p:sp>
      <p:sp>
        <p:nvSpPr>
          <p:cNvPr id="8" name="Text 6"/>
          <p:cNvSpPr/>
          <p:nvPr/>
        </p:nvSpPr>
        <p:spPr>
          <a:xfrm>
            <a:off x="1371600" y="1481328"/>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¿Qué exige CNA sobre aprendizaje activo?</a:t>
            </a:r>
            <a:endParaRPr lang="en-US" sz="1300" dirty="0"/>
          </a:p>
        </p:txBody>
      </p:sp>
      <p:sp>
        <p:nvSpPr>
          <p:cNvPr id="9" name="Shape 7"/>
          <p:cNvSpPr/>
          <p:nvPr/>
        </p:nvSpPr>
        <p:spPr>
          <a:xfrm>
            <a:off x="640080" y="1865376"/>
            <a:ext cx="7863840" cy="338328"/>
          </a:xfrm>
          <a:prstGeom prst="roundRect">
            <a:avLst>
              <a:gd name="adj" fmla="val 16216"/>
            </a:avLst>
          </a:prstGeom>
          <a:solidFill>
            <a:srgbClr val="F5F7FA"/>
          </a:solidFill>
          <a:ln/>
        </p:spPr>
      </p:sp>
      <p:sp>
        <p:nvSpPr>
          <p:cNvPr id="10" name="Text 8"/>
          <p:cNvSpPr/>
          <p:nvPr/>
        </p:nvSpPr>
        <p:spPr>
          <a:xfrm>
            <a:off x="822960" y="1865376"/>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03</a:t>
            </a:r>
            <a:endParaRPr lang="en-US" sz="1300" dirty="0"/>
          </a:p>
        </p:txBody>
      </p:sp>
      <p:sp>
        <p:nvSpPr>
          <p:cNvPr id="11" name="Text 9"/>
          <p:cNvSpPr/>
          <p:nvPr/>
        </p:nvSpPr>
        <p:spPr>
          <a:xfrm>
            <a:off x="1371600" y="1865376"/>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Qué es un simulador de negocios y cómo funciona</a:t>
            </a:r>
            <a:endParaRPr lang="en-US" sz="1300" dirty="0"/>
          </a:p>
        </p:txBody>
      </p:sp>
      <p:sp>
        <p:nvSpPr>
          <p:cNvPr id="12" name="Shape 10"/>
          <p:cNvSpPr/>
          <p:nvPr/>
        </p:nvSpPr>
        <p:spPr>
          <a:xfrm>
            <a:off x="640080" y="2249424"/>
            <a:ext cx="7863840" cy="338328"/>
          </a:xfrm>
          <a:prstGeom prst="roundRect">
            <a:avLst>
              <a:gd name="adj" fmla="val 16216"/>
            </a:avLst>
          </a:prstGeom>
          <a:solidFill>
            <a:srgbClr val="FFFFFF"/>
          </a:solidFill>
          <a:ln/>
        </p:spPr>
      </p:sp>
      <p:sp>
        <p:nvSpPr>
          <p:cNvPr id="13" name="Text 11"/>
          <p:cNvSpPr/>
          <p:nvPr/>
        </p:nvSpPr>
        <p:spPr>
          <a:xfrm>
            <a:off x="822960" y="2249424"/>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04</a:t>
            </a:r>
            <a:endParaRPr lang="en-US" sz="1300" dirty="0"/>
          </a:p>
        </p:txBody>
      </p:sp>
      <p:sp>
        <p:nvSpPr>
          <p:cNvPr id="14" name="Text 12"/>
          <p:cNvSpPr/>
          <p:nvPr/>
        </p:nvSpPr>
        <p:spPr>
          <a:xfrm>
            <a:off x="1371600" y="2249424"/>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Demo en vivo: CompanyGame (15 min)</a:t>
            </a:r>
            <a:endParaRPr lang="en-US" sz="1300" dirty="0"/>
          </a:p>
        </p:txBody>
      </p:sp>
      <p:sp>
        <p:nvSpPr>
          <p:cNvPr id="15" name="Shape 13"/>
          <p:cNvSpPr/>
          <p:nvPr/>
        </p:nvSpPr>
        <p:spPr>
          <a:xfrm>
            <a:off x="640080" y="2633472"/>
            <a:ext cx="7863840" cy="338328"/>
          </a:xfrm>
          <a:prstGeom prst="roundRect">
            <a:avLst>
              <a:gd name="adj" fmla="val 16216"/>
            </a:avLst>
          </a:prstGeom>
          <a:solidFill>
            <a:srgbClr val="F5F7FA"/>
          </a:solidFill>
          <a:ln/>
        </p:spPr>
      </p:sp>
      <p:sp>
        <p:nvSpPr>
          <p:cNvPr id="16" name="Text 14"/>
          <p:cNvSpPr/>
          <p:nvPr/>
        </p:nvSpPr>
        <p:spPr>
          <a:xfrm>
            <a:off x="822960" y="2633472"/>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05</a:t>
            </a:r>
            <a:endParaRPr lang="en-US" sz="1300" dirty="0"/>
          </a:p>
        </p:txBody>
      </p:sp>
      <p:sp>
        <p:nvSpPr>
          <p:cNvPr id="17" name="Text 15"/>
          <p:cNvSpPr/>
          <p:nvPr/>
        </p:nvSpPr>
        <p:spPr>
          <a:xfrm>
            <a:off x="1371600" y="2633472"/>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Nuestros 5 simuladores: cuál para cada asignatura</a:t>
            </a:r>
            <a:endParaRPr lang="en-US" sz="1300" dirty="0"/>
          </a:p>
        </p:txBody>
      </p:sp>
      <p:sp>
        <p:nvSpPr>
          <p:cNvPr id="18" name="Shape 16"/>
          <p:cNvSpPr/>
          <p:nvPr/>
        </p:nvSpPr>
        <p:spPr>
          <a:xfrm>
            <a:off x="640080" y="3017520"/>
            <a:ext cx="7863840" cy="338328"/>
          </a:xfrm>
          <a:prstGeom prst="roundRect">
            <a:avLst>
              <a:gd name="adj" fmla="val 16216"/>
            </a:avLst>
          </a:prstGeom>
          <a:solidFill>
            <a:srgbClr val="FFFFFF"/>
          </a:solidFill>
          <a:ln/>
        </p:spPr>
      </p:sp>
      <p:sp>
        <p:nvSpPr>
          <p:cNvPr id="19" name="Text 17"/>
          <p:cNvSpPr/>
          <p:nvPr/>
        </p:nvSpPr>
        <p:spPr>
          <a:xfrm>
            <a:off x="822960" y="3017520"/>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06</a:t>
            </a:r>
            <a:endParaRPr lang="en-US" sz="1300" dirty="0"/>
          </a:p>
        </p:txBody>
      </p:sp>
      <p:sp>
        <p:nvSpPr>
          <p:cNvPr id="20" name="Text 18"/>
          <p:cNvSpPr/>
          <p:nvPr/>
        </p:nvSpPr>
        <p:spPr>
          <a:xfrm>
            <a:off x="1371600" y="3017520"/>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Implementación paso a paso: timeline de un semestre</a:t>
            </a:r>
            <a:endParaRPr lang="en-US" sz="1300" dirty="0"/>
          </a:p>
        </p:txBody>
      </p:sp>
      <p:sp>
        <p:nvSpPr>
          <p:cNvPr id="21" name="Shape 19"/>
          <p:cNvSpPr/>
          <p:nvPr/>
        </p:nvSpPr>
        <p:spPr>
          <a:xfrm>
            <a:off x="640080" y="3401568"/>
            <a:ext cx="7863840" cy="338328"/>
          </a:xfrm>
          <a:prstGeom prst="roundRect">
            <a:avLst>
              <a:gd name="adj" fmla="val 16216"/>
            </a:avLst>
          </a:prstGeom>
          <a:solidFill>
            <a:srgbClr val="F5F7FA"/>
          </a:solidFill>
          <a:ln/>
        </p:spPr>
      </p:sp>
      <p:sp>
        <p:nvSpPr>
          <p:cNvPr id="22" name="Text 20"/>
          <p:cNvSpPr/>
          <p:nvPr/>
        </p:nvSpPr>
        <p:spPr>
          <a:xfrm>
            <a:off x="822960" y="3401568"/>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07</a:t>
            </a:r>
            <a:endParaRPr lang="en-US" sz="1300" dirty="0"/>
          </a:p>
        </p:txBody>
      </p:sp>
      <p:sp>
        <p:nvSpPr>
          <p:cNvPr id="23" name="Text 21"/>
          <p:cNvSpPr/>
          <p:nvPr/>
        </p:nvSpPr>
        <p:spPr>
          <a:xfrm>
            <a:off x="1371600" y="3401568"/>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Resultados reales y casos de éxito</a:t>
            </a:r>
            <a:endParaRPr lang="en-US" sz="1300" dirty="0"/>
          </a:p>
        </p:txBody>
      </p:sp>
      <p:sp>
        <p:nvSpPr>
          <p:cNvPr id="24" name="Shape 22"/>
          <p:cNvSpPr/>
          <p:nvPr/>
        </p:nvSpPr>
        <p:spPr>
          <a:xfrm>
            <a:off x="640080" y="3785616"/>
            <a:ext cx="7863840" cy="338328"/>
          </a:xfrm>
          <a:prstGeom prst="roundRect">
            <a:avLst>
              <a:gd name="adj" fmla="val 16216"/>
            </a:avLst>
          </a:prstGeom>
          <a:solidFill>
            <a:srgbClr val="FFFFFF"/>
          </a:solidFill>
          <a:ln/>
        </p:spPr>
      </p:sp>
      <p:sp>
        <p:nvSpPr>
          <p:cNvPr id="25" name="Text 23"/>
          <p:cNvSpPr/>
          <p:nvPr/>
        </p:nvSpPr>
        <p:spPr>
          <a:xfrm>
            <a:off x="822960" y="3785616"/>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08</a:t>
            </a:r>
            <a:endParaRPr lang="en-US" sz="1300" dirty="0"/>
          </a:p>
        </p:txBody>
      </p:sp>
      <p:sp>
        <p:nvSpPr>
          <p:cNvPr id="26" name="Text 24"/>
          <p:cNvSpPr/>
          <p:nvPr/>
        </p:nvSpPr>
        <p:spPr>
          <a:xfrm>
            <a:off x="1371600" y="3785616"/>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Alineación con acreditación CNA</a:t>
            </a:r>
            <a:endParaRPr lang="en-US" sz="1300" dirty="0"/>
          </a:p>
        </p:txBody>
      </p:sp>
      <p:sp>
        <p:nvSpPr>
          <p:cNvPr id="27" name="Shape 25"/>
          <p:cNvSpPr/>
          <p:nvPr/>
        </p:nvSpPr>
        <p:spPr>
          <a:xfrm>
            <a:off x="640080" y="4169664"/>
            <a:ext cx="7863840" cy="338328"/>
          </a:xfrm>
          <a:prstGeom prst="roundRect">
            <a:avLst>
              <a:gd name="adj" fmla="val 16216"/>
            </a:avLst>
          </a:prstGeom>
          <a:solidFill>
            <a:srgbClr val="F5F7FA"/>
          </a:solidFill>
          <a:ln/>
        </p:spPr>
      </p:sp>
      <p:sp>
        <p:nvSpPr>
          <p:cNvPr id="28" name="Text 26"/>
          <p:cNvSpPr/>
          <p:nvPr/>
        </p:nvSpPr>
        <p:spPr>
          <a:xfrm>
            <a:off x="822960" y="4169664"/>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09</a:t>
            </a:r>
            <a:endParaRPr lang="en-US" sz="1300" dirty="0"/>
          </a:p>
        </p:txBody>
      </p:sp>
      <p:sp>
        <p:nvSpPr>
          <p:cNvPr id="29" name="Text 27"/>
          <p:cNvSpPr/>
          <p:nvPr/>
        </p:nvSpPr>
        <p:spPr>
          <a:xfrm>
            <a:off x="1371600" y="4169664"/>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Piloto gratuito y modelos de precio</a:t>
            </a:r>
            <a:endParaRPr lang="en-US" sz="1300" dirty="0"/>
          </a:p>
        </p:txBody>
      </p:sp>
      <p:sp>
        <p:nvSpPr>
          <p:cNvPr id="30" name="Shape 28"/>
          <p:cNvSpPr/>
          <p:nvPr/>
        </p:nvSpPr>
        <p:spPr>
          <a:xfrm>
            <a:off x="640080" y="4553712"/>
            <a:ext cx="7863840" cy="338328"/>
          </a:xfrm>
          <a:prstGeom prst="roundRect">
            <a:avLst>
              <a:gd name="adj" fmla="val 16216"/>
            </a:avLst>
          </a:prstGeom>
          <a:solidFill>
            <a:srgbClr val="FFFFFF"/>
          </a:solidFill>
          <a:ln/>
        </p:spPr>
      </p:sp>
      <p:sp>
        <p:nvSpPr>
          <p:cNvPr id="31" name="Text 29"/>
          <p:cNvSpPr/>
          <p:nvPr/>
        </p:nvSpPr>
        <p:spPr>
          <a:xfrm>
            <a:off x="822960" y="4553712"/>
            <a:ext cx="457200" cy="338328"/>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10</a:t>
            </a:r>
            <a:endParaRPr lang="en-US" sz="1300" dirty="0"/>
          </a:p>
        </p:txBody>
      </p:sp>
      <p:sp>
        <p:nvSpPr>
          <p:cNvPr id="32" name="Text 30"/>
          <p:cNvSpPr/>
          <p:nvPr/>
        </p:nvSpPr>
        <p:spPr>
          <a:xfrm>
            <a:off x="1371600" y="4553712"/>
            <a:ext cx="6858000" cy="338328"/>
          </a:xfrm>
          <a:prstGeom prst="rect">
            <a:avLst/>
          </a:prstGeom>
          <a:noFill/>
          <a:ln/>
        </p:spPr>
        <p:txBody>
          <a:bodyPr wrap="square" rtlCol="0" anchor="ctr"/>
          <a:lstStyle/>
          <a:p>
            <a:pPr indent="0" marL="0">
              <a:buNone/>
            </a:pPr>
            <a:r>
              <a:rPr lang="en-US" sz="1300" dirty="0">
                <a:solidFill>
                  <a:srgbClr val="1C213C"/>
                </a:solidFill>
                <a:latin typeface="Arial" pitchFamily="34" charset="0"/>
                <a:ea typeface="Arial" pitchFamily="34" charset="-122"/>
                <a:cs typeface="Arial" pitchFamily="34" charset="-120"/>
              </a:rPr>
              <a:t>Preguntas y respuestas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¿Quiénes somos?</a:t>
            </a:r>
            <a:endParaRPr lang="en-US" sz="2800" dirty="0"/>
          </a:p>
        </p:txBody>
      </p:sp>
      <p:sp>
        <p:nvSpPr>
          <p:cNvPr id="3" name="Shape 1"/>
          <p:cNvSpPr/>
          <p:nvPr/>
        </p:nvSpPr>
        <p:spPr>
          <a:xfrm>
            <a:off x="640080" y="1188720"/>
            <a:ext cx="3657600" cy="3200400"/>
          </a:xfrm>
          <a:prstGeom prst="roundRect">
            <a:avLst>
              <a:gd name="adj" fmla="val 3429"/>
            </a:avLst>
          </a:prstGeom>
          <a:solidFill>
            <a:srgbClr val="F5F7FA"/>
          </a:solidFill>
          <a:ln/>
          <a:effectLst>
            <a:outerShdw sx="100000" sy="100000" kx="0" ky="0" algn="bl" rotWithShape="0" blurRad="101600" dist="38100" dir="2700000">
              <a:srgbClr val="000000">
                <a:alpha val="12000"/>
              </a:srgbClr>
            </a:outerShdw>
          </a:effectLst>
        </p:spPr>
      </p:sp>
      <p:sp>
        <p:nvSpPr>
          <p:cNvPr id="4" name="Text 2"/>
          <p:cNvSpPr/>
          <p:nvPr/>
        </p:nvSpPr>
        <p:spPr>
          <a:xfrm>
            <a:off x="822960" y="1371600"/>
            <a:ext cx="3291840" cy="365760"/>
          </a:xfrm>
          <a:prstGeom prst="rect">
            <a:avLst/>
          </a:prstGeom>
          <a:noFill/>
          <a:ln/>
        </p:spPr>
        <p:txBody>
          <a:bodyPr wrap="square" rtlCol="0" anchor="ctr"/>
          <a:lstStyle/>
          <a:p>
            <a:pPr indent="0" marL="0">
              <a:buNone/>
            </a:pPr>
            <a:r>
              <a:rPr lang="en-US" sz="1600" b="1" dirty="0">
                <a:solidFill>
                  <a:srgbClr val="1C213C"/>
                </a:solidFill>
                <a:latin typeface="Arial" pitchFamily="34" charset="0"/>
                <a:ea typeface="Arial" pitchFamily="34" charset="-122"/>
                <a:cs typeface="Arial" pitchFamily="34" charset="-120"/>
              </a:rPr>
              <a:t>Nuestra misión</a:t>
            </a:r>
            <a:endParaRPr lang="en-US" sz="1600" dirty="0"/>
          </a:p>
        </p:txBody>
      </p:sp>
      <p:sp>
        <p:nvSpPr>
          <p:cNvPr id="5" name="Text 3"/>
          <p:cNvSpPr/>
          <p:nvPr/>
        </p:nvSpPr>
        <p:spPr>
          <a:xfrm>
            <a:off x="822960" y="1828800"/>
            <a:ext cx="3291840" cy="1828800"/>
          </a:xfrm>
          <a:prstGeom prst="rect">
            <a:avLst/>
          </a:prstGeom>
          <a:noFill/>
          <a:ln/>
        </p:spPr>
        <p:txBody>
          <a:bodyPr wrap="square" rtlCol="0" anchor="ctr"/>
          <a:lstStyle/>
          <a:p>
            <a:pPr indent="0" marL="0">
              <a:buNone/>
            </a:pPr>
            <a:r>
              <a:rPr lang="en-US" sz="1200" dirty="0">
                <a:solidFill>
                  <a:srgbClr val="5A5F70"/>
                </a:solidFill>
                <a:latin typeface="Arial" pitchFamily="34" charset="0"/>
                <a:ea typeface="Arial" pitchFamily="34" charset="-122"/>
                <a:cs typeface="Arial" pitchFamily="34" charset="-120"/>
              </a:rPr>
              <a:t>Ayudar a las facultades de Administración de Empresas en Colombia a cerrar la brecha entre teoría y práctica, integrando simuladores de negocios en sus asignaturas.</a:t>
            </a:r>
            <a:endParaRPr lang="en-US" sz="1200" dirty="0"/>
          </a:p>
        </p:txBody>
      </p:sp>
      <p:sp>
        <p:nvSpPr>
          <p:cNvPr id="6" name="Shape 4"/>
          <p:cNvSpPr/>
          <p:nvPr/>
        </p:nvSpPr>
        <p:spPr>
          <a:xfrm>
            <a:off x="4663440" y="1188720"/>
            <a:ext cx="3840480" cy="3200400"/>
          </a:xfrm>
          <a:prstGeom prst="roundRect">
            <a:avLst>
              <a:gd name="adj" fmla="val 3429"/>
            </a:avLst>
          </a:prstGeom>
          <a:solidFill>
            <a:srgbClr val="1C213C"/>
          </a:solidFill>
          <a:ln/>
          <a:effectLst>
            <a:outerShdw sx="100000" sy="100000" kx="0" ky="0" algn="bl" rotWithShape="0" blurRad="101600" dist="38100" dir="2700000">
              <a:srgbClr val="000000">
                <a:alpha val="12000"/>
              </a:srgbClr>
            </a:outerShdw>
          </a:effectLst>
        </p:spPr>
      </p:sp>
      <p:sp>
        <p:nvSpPr>
          <p:cNvPr id="7" name="Text 5"/>
          <p:cNvSpPr/>
          <p:nvPr/>
        </p:nvSpPr>
        <p:spPr>
          <a:xfrm>
            <a:off x="4846320" y="1371600"/>
            <a:ext cx="3474720" cy="365760"/>
          </a:xfrm>
          <a:prstGeom prst="rect">
            <a:avLst/>
          </a:prstGeom>
          <a:noFill/>
          <a:ln/>
        </p:spPr>
        <p:txBody>
          <a:bodyPr wrap="square" rtlCol="0" anchor="ctr"/>
          <a:lstStyle/>
          <a:p>
            <a:pPr indent="0" marL="0">
              <a:buNone/>
            </a:pPr>
            <a:r>
              <a:rPr lang="en-US" sz="1600" b="1" dirty="0">
                <a:solidFill>
                  <a:srgbClr val="49C5B1"/>
                </a:solidFill>
                <a:latin typeface="Arial" pitchFamily="34" charset="0"/>
                <a:ea typeface="Arial" pitchFamily="34" charset="-122"/>
                <a:cs typeface="Arial" pitchFamily="34" charset="-120"/>
              </a:rPr>
              <a:t>Nuestros números</a:t>
            </a:r>
            <a:endParaRPr lang="en-US" sz="1600" dirty="0"/>
          </a:p>
        </p:txBody>
      </p:sp>
      <p:sp>
        <p:nvSpPr>
          <p:cNvPr id="8" name="Text 6"/>
          <p:cNvSpPr/>
          <p:nvPr/>
        </p:nvSpPr>
        <p:spPr>
          <a:xfrm>
            <a:off x="5029200" y="1920240"/>
            <a:ext cx="1097280" cy="457200"/>
          </a:xfrm>
          <a:prstGeom prst="rect">
            <a:avLst/>
          </a:prstGeom>
          <a:noFill/>
          <a:ln/>
        </p:spPr>
        <p:txBody>
          <a:bodyPr wrap="square" rtlCol="0" anchor="ctr"/>
          <a:lstStyle/>
          <a:p>
            <a:pPr indent="0" marL="0">
              <a:buNone/>
            </a:pPr>
            <a:r>
              <a:rPr lang="en-US" sz="2400" b="1" dirty="0">
                <a:solidFill>
                  <a:srgbClr val="49C5B1"/>
                </a:solidFill>
                <a:latin typeface="Arial" pitchFamily="34" charset="0"/>
                <a:ea typeface="Arial" pitchFamily="34" charset="-122"/>
                <a:cs typeface="Arial" pitchFamily="34" charset="-120"/>
              </a:rPr>
              <a:t>5</a:t>
            </a:r>
            <a:endParaRPr lang="en-US" sz="2400" dirty="0"/>
          </a:p>
        </p:txBody>
      </p:sp>
      <p:sp>
        <p:nvSpPr>
          <p:cNvPr id="9" name="Text 7"/>
          <p:cNvSpPr/>
          <p:nvPr/>
        </p:nvSpPr>
        <p:spPr>
          <a:xfrm>
            <a:off x="6126480" y="1920240"/>
            <a:ext cx="210312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simuladores especializados</a:t>
            </a:r>
            <a:endParaRPr lang="en-US" sz="1200" dirty="0"/>
          </a:p>
        </p:txBody>
      </p:sp>
      <p:sp>
        <p:nvSpPr>
          <p:cNvPr id="10" name="Text 8"/>
          <p:cNvSpPr/>
          <p:nvPr/>
        </p:nvSpPr>
        <p:spPr>
          <a:xfrm>
            <a:off x="5029200" y="2514600"/>
            <a:ext cx="1097280" cy="457200"/>
          </a:xfrm>
          <a:prstGeom prst="rect">
            <a:avLst/>
          </a:prstGeom>
          <a:noFill/>
          <a:ln/>
        </p:spPr>
        <p:txBody>
          <a:bodyPr wrap="square" rtlCol="0" anchor="ctr"/>
          <a:lstStyle/>
          <a:p>
            <a:pPr indent="0" marL="0">
              <a:buNone/>
            </a:pPr>
            <a:r>
              <a:rPr lang="en-US" sz="2400" b="1" dirty="0">
                <a:solidFill>
                  <a:srgbClr val="49C5B1"/>
                </a:solidFill>
                <a:latin typeface="Arial" pitchFamily="34" charset="0"/>
                <a:ea typeface="Arial" pitchFamily="34" charset="-122"/>
                <a:cs typeface="Arial" pitchFamily="34" charset="-120"/>
              </a:rPr>
              <a:t>30+</a:t>
            </a:r>
            <a:endParaRPr lang="en-US" sz="2400" dirty="0"/>
          </a:p>
        </p:txBody>
      </p:sp>
      <p:sp>
        <p:nvSpPr>
          <p:cNvPr id="11" name="Text 9"/>
          <p:cNvSpPr/>
          <p:nvPr/>
        </p:nvSpPr>
        <p:spPr>
          <a:xfrm>
            <a:off x="6126480" y="2514600"/>
            <a:ext cx="210312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países donde se usan</a:t>
            </a:r>
            <a:endParaRPr lang="en-US" sz="1200" dirty="0"/>
          </a:p>
        </p:txBody>
      </p:sp>
      <p:sp>
        <p:nvSpPr>
          <p:cNvPr id="12" name="Text 10"/>
          <p:cNvSpPr/>
          <p:nvPr/>
        </p:nvSpPr>
        <p:spPr>
          <a:xfrm>
            <a:off x="5029200" y="3108960"/>
            <a:ext cx="1097280" cy="457200"/>
          </a:xfrm>
          <a:prstGeom prst="rect">
            <a:avLst/>
          </a:prstGeom>
          <a:noFill/>
          <a:ln/>
        </p:spPr>
        <p:txBody>
          <a:bodyPr wrap="square" rtlCol="0" anchor="ctr"/>
          <a:lstStyle/>
          <a:p>
            <a:pPr indent="0" marL="0">
              <a:buNone/>
            </a:pPr>
            <a:r>
              <a:rPr lang="en-US" sz="2400" b="1" dirty="0">
                <a:solidFill>
                  <a:srgbClr val="49C5B1"/>
                </a:solidFill>
                <a:latin typeface="Arial" pitchFamily="34" charset="0"/>
                <a:ea typeface="Arial" pitchFamily="34" charset="-122"/>
                <a:cs typeface="Arial" pitchFamily="34" charset="-120"/>
              </a:rPr>
              <a:t>162</a:t>
            </a:r>
            <a:endParaRPr lang="en-US" sz="2400" dirty="0"/>
          </a:p>
        </p:txBody>
      </p:sp>
      <p:sp>
        <p:nvSpPr>
          <p:cNvPr id="13" name="Text 11"/>
          <p:cNvSpPr/>
          <p:nvPr/>
        </p:nvSpPr>
        <p:spPr>
          <a:xfrm>
            <a:off x="6126480" y="3108960"/>
            <a:ext cx="210312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facultades en ASCOLFA (mercado)</a:t>
            </a:r>
            <a:endParaRPr lang="en-US" sz="1200" dirty="0"/>
          </a:p>
        </p:txBody>
      </p:sp>
      <p:sp>
        <p:nvSpPr>
          <p:cNvPr id="14" name="Text 12"/>
          <p:cNvSpPr/>
          <p:nvPr/>
        </p:nvSpPr>
        <p:spPr>
          <a:xfrm>
            <a:off x="5029200" y="3703320"/>
            <a:ext cx="1097280" cy="457200"/>
          </a:xfrm>
          <a:prstGeom prst="rect">
            <a:avLst/>
          </a:prstGeom>
          <a:noFill/>
          <a:ln/>
        </p:spPr>
        <p:txBody>
          <a:bodyPr wrap="square" rtlCol="0" anchor="ctr"/>
          <a:lstStyle/>
          <a:p>
            <a:pPr indent="0" marL="0">
              <a:buNone/>
            </a:pPr>
            <a:r>
              <a:rPr lang="en-US" sz="2400" b="1" dirty="0">
                <a:solidFill>
                  <a:srgbClr val="49C5B1"/>
                </a:solidFill>
                <a:latin typeface="Arial" pitchFamily="34" charset="0"/>
                <a:ea typeface="Arial" pitchFamily="34" charset="-122"/>
                <a:cs typeface="Arial" pitchFamily="34" charset="-120"/>
              </a:rPr>
              <a:t>100%</a:t>
            </a:r>
            <a:endParaRPr lang="en-US" sz="2400" dirty="0"/>
          </a:p>
        </p:txBody>
      </p:sp>
      <p:sp>
        <p:nvSpPr>
          <p:cNvPr id="15" name="Text 13"/>
          <p:cNvSpPr/>
          <p:nvPr/>
        </p:nvSpPr>
        <p:spPr>
          <a:xfrm>
            <a:off x="6126480" y="3703320"/>
            <a:ext cx="210312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soporte en español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213C"/>
        </a:solidFill>
      </p:bgPr>
    </p:bg>
    <p:spTree>
      <p:nvGrpSpPr>
        <p:cNvPr id="1" name=""/>
        <p:cNvGrpSpPr/>
        <p:nvPr/>
      </p:nvGrpSpPr>
      <p:grpSpPr>
        <a:xfrm>
          <a:off x="0" y="0"/>
          <a:ext cx="0" cy="0"/>
          <a:chOff x="0" y="0"/>
          <a:chExt cx="0" cy="0"/>
        </a:xfrm>
      </p:grpSpPr>
      <p:sp>
        <p:nvSpPr>
          <p:cNvPr id="2" name="Text 0"/>
          <p:cNvSpPr/>
          <p:nvPr/>
        </p:nvSpPr>
        <p:spPr>
          <a:xfrm>
            <a:off x="914400" y="457200"/>
            <a:ext cx="7315200" cy="1828800"/>
          </a:xfrm>
          <a:prstGeom prst="rect">
            <a:avLst/>
          </a:prstGeom>
          <a:noFill/>
          <a:ln/>
        </p:spPr>
        <p:txBody>
          <a:bodyPr wrap="square" rtlCol="0" anchor="ctr"/>
          <a:lstStyle/>
          <a:p>
            <a:pPr algn="ctr" indent="0" marL="0">
              <a:buNone/>
            </a:pPr>
            <a:r>
              <a:rPr lang="en-US" sz="9600" b="1" dirty="0">
                <a:solidFill>
                  <a:srgbClr val="49C5B1"/>
                </a:solidFill>
                <a:latin typeface="Arial" pitchFamily="34" charset="0"/>
                <a:ea typeface="Arial" pitchFamily="34" charset="-122"/>
                <a:cs typeface="Arial" pitchFamily="34" charset="-120"/>
              </a:rPr>
              <a:t>92%</a:t>
            </a:r>
            <a:endParaRPr lang="en-US" sz="9600" dirty="0"/>
          </a:p>
        </p:txBody>
      </p:sp>
      <p:sp>
        <p:nvSpPr>
          <p:cNvPr id="3" name="Text 1"/>
          <p:cNvSpPr/>
          <p:nvPr/>
        </p:nvSpPr>
        <p:spPr>
          <a:xfrm>
            <a:off x="914400" y="2286000"/>
            <a:ext cx="7315200" cy="914400"/>
          </a:xfrm>
          <a:prstGeom prst="rect">
            <a:avLst/>
          </a:prstGeom>
          <a:noFill/>
          <a:ln/>
        </p:spPr>
        <p:txBody>
          <a:bodyPr wrap="square"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de los egresados de Administración de Empresas dicen que</a:t>
            </a:r>
            <a:endParaRPr lang="en-US" sz="2000" dirty="0"/>
          </a:p>
          <a:p>
            <a:pPr algn="ctr" indent="0" marL="0">
              <a:buNone/>
            </a:pPr>
            <a:r>
              <a:rPr lang="en-US" sz="2000" dirty="0">
                <a:solidFill>
                  <a:srgbClr val="FFFFFF"/>
                </a:solidFill>
                <a:latin typeface="Arial" pitchFamily="34" charset="0"/>
                <a:ea typeface="Arial" pitchFamily="34" charset="-122"/>
                <a:cs typeface="Arial" pitchFamily="34" charset="-120"/>
              </a:rPr>
              <a:t>nunca tomaron una decisión gerencial real antes de graduarse</a:t>
            </a:r>
            <a:endParaRPr lang="en-US" sz="2000" dirty="0"/>
          </a:p>
        </p:txBody>
      </p:sp>
      <p:sp>
        <p:nvSpPr>
          <p:cNvPr id="4" name="Shape 2"/>
          <p:cNvSpPr/>
          <p:nvPr/>
        </p:nvSpPr>
        <p:spPr>
          <a:xfrm>
            <a:off x="1828800" y="3474720"/>
            <a:ext cx="5486400" cy="731520"/>
          </a:xfrm>
          <a:prstGeom prst="roundRect">
            <a:avLst>
              <a:gd name="adj" fmla="val 12500"/>
            </a:avLst>
          </a:prstGeom>
          <a:solidFill>
            <a:srgbClr val="49C5B1">
              <a:alpha val="80000"/>
            </a:srgbClr>
          </a:solidFill>
          <a:ln/>
        </p:spPr>
      </p:sp>
      <p:sp>
        <p:nvSpPr>
          <p:cNvPr id="5" name="Text 3"/>
          <p:cNvSpPr/>
          <p:nvPr/>
        </p:nvSpPr>
        <p:spPr>
          <a:xfrm>
            <a:off x="1828800" y="3474720"/>
            <a:ext cx="5486400" cy="731520"/>
          </a:xfrm>
          <a:prstGeom prst="rect">
            <a:avLst/>
          </a:prstGeom>
          <a:noFill/>
          <a:ln/>
        </p:spPr>
        <p:txBody>
          <a:bodyPr wrap="square"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El estudiante analiza lo que OTROS hicieron.</a:t>
            </a:r>
            <a:endParaRPr lang="en-US" sz="1400" dirty="0"/>
          </a:p>
          <a:p>
            <a:pPr algn="ctr" indent="0" marL="0">
              <a:buNone/>
            </a:pPr>
            <a:r>
              <a:rPr lang="en-US" sz="1400" i="1" dirty="0">
                <a:solidFill>
                  <a:srgbClr val="FFFFFF"/>
                </a:solidFill>
                <a:latin typeface="Arial" pitchFamily="34" charset="0"/>
                <a:ea typeface="Arial" pitchFamily="34" charset="-122"/>
                <a:cs typeface="Arial" pitchFamily="34" charset="-120"/>
              </a:rPr>
              <a:t>Pero nunca decide, nunca arriesga, nunca falla.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El aula de hoy vs. el aula con simulación</a:t>
            </a:r>
            <a:endParaRPr lang="en-US" sz="2800" dirty="0"/>
          </a:p>
        </p:txBody>
      </p:sp>
      <p:sp>
        <p:nvSpPr>
          <p:cNvPr id="3" name="Shape 1"/>
          <p:cNvSpPr/>
          <p:nvPr/>
        </p:nvSpPr>
        <p:spPr>
          <a:xfrm>
            <a:off x="640080" y="1188720"/>
            <a:ext cx="3749040" cy="3474720"/>
          </a:xfrm>
          <a:prstGeom prst="roundRect">
            <a:avLst>
              <a:gd name="adj" fmla="val 3158"/>
            </a:avLst>
          </a:prstGeom>
          <a:solidFill>
            <a:srgbClr val="F5F7FA"/>
          </a:solidFill>
          <a:ln/>
          <a:effectLst>
            <a:outerShdw sx="100000" sy="100000" kx="0" ky="0" algn="bl" rotWithShape="0" blurRad="101600" dist="38100" dir="2700000">
              <a:srgbClr val="000000">
                <a:alpha val="12000"/>
              </a:srgbClr>
            </a:outerShdw>
          </a:effectLst>
        </p:spPr>
      </p:sp>
      <p:sp>
        <p:nvSpPr>
          <p:cNvPr id="4" name="Text 2"/>
          <p:cNvSpPr/>
          <p:nvPr/>
        </p:nvSpPr>
        <p:spPr>
          <a:xfrm>
            <a:off x="640080" y="1280160"/>
            <a:ext cx="3749040" cy="457200"/>
          </a:xfrm>
          <a:prstGeom prst="rect">
            <a:avLst/>
          </a:prstGeom>
          <a:noFill/>
          <a:ln/>
        </p:spPr>
        <p:txBody>
          <a:bodyPr wrap="square" rtlCol="0" anchor="ctr"/>
          <a:lstStyle/>
          <a:p>
            <a:pPr algn="ctr" indent="0" marL="0">
              <a:buNone/>
            </a:pPr>
            <a:r>
              <a:rPr lang="en-US" sz="1600" b="1" dirty="0">
                <a:solidFill>
                  <a:srgbClr val="5A5F70"/>
                </a:solidFill>
                <a:latin typeface="Arial" pitchFamily="34" charset="0"/>
                <a:ea typeface="Arial" pitchFamily="34" charset="-122"/>
                <a:cs typeface="Arial" pitchFamily="34" charset="-120"/>
              </a:rPr>
              <a:t>Método tradicional</a:t>
            </a:r>
            <a:endParaRPr lang="en-US" sz="1600" dirty="0"/>
          </a:p>
        </p:txBody>
      </p:sp>
      <p:sp>
        <p:nvSpPr>
          <p:cNvPr id="5" name="Text 3"/>
          <p:cNvSpPr/>
          <p:nvPr/>
        </p:nvSpPr>
        <p:spPr>
          <a:xfrm>
            <a:off x="914400" y="1920240"/>
            <a:ext cx="3200400" cy="2560320"/>
          </a:xfrm>
          <a:prstGeom prst="rect">
            <a:avLst/>
          </a:prstGeom>
          <a:noFill/>
          <a:ln/>
        </p:spPr>
        <p:txBody>
          <a:bodyPr wrap="square" rtlCol="0" anchor="t"/>
          <a:lstStyle/>
          <a:p>
            <a:pPr marL="342900" indent="-342900">
              <a:buSzPct val="100000"/>
              <a:buChar char="•"/>
            </a:pPr>
            <a:r>
              <a:rPr lang="en-US" sz="1300" dirty="0">
                <a:solidFill>
                  <a:srgbClr val="5A5F70"/>
                </a:solidFill>
                <a:latin typeface="Arial" pitchFamily="34" charset="0"/>
                <a:ea typeface="Arial" pitchFamily="34" charset="-122"/>
                <a:cs typeface="Arial" pitchFamily="34" charset="-120"/>
              </a:rPr>
              <a:t>Leer casos escritos hace 10-20 años</a:t>
            </a:r>
            <a:endParaRPr lang="en-US" sz="1300" dirty="0"/>
          </a:p>
          <a:p>
            <a:pPr marL="342900" indent="-342900">
              <a:buSzPct val="100000"/>
              <a:buChar char="•"/>
            </a:pPr>
            <a:r>
              <a:rPr lang="en-US" sz="1300" dirty="0">
                <a:solidFill>
                  <a:srgbClr val="5A5F70"/>
                </a:solidFill>
                <a:latin typeface="Arial" pitchFamily="34" charset="0"/>
                <a:ea typeface="Arial" pitchFamily="34" charset="-122"/>
                <a:cs typeface="Arial" pitchFamily="34" charset="-120"/>
              </a:rPr>
              <a:t>Analizar decisiones de OTROS (Apple, Netflix, Zara)</a:t>
            </a:r>
            <a:endParaRPr lang="en-US" sz="1300" dirty="0"/>
          </a:p>
          <a:p>
            <a:pPr marL="342900" indent="-342900">
              <a:buSzPct val="100000"/>
              <a:buChar char="•"/>
            </a:pPr>
            <a:r>
              <a:rPr lang="en-US" sz="1300" dirty="0">
                <a:solidFill>
                  <a:srgbClr val="5A5F70"/>
                </a:solidFill>
                <a:latin typeface="Arial" pitchFamily="34" charset="0"/>
                <a:ea typeface="Arial" pitchFamily="34" charset="-122"/>
                <a:cs typeface="Arial" pitchFamily="34" charset="-120"/>
              </a:rPr>
              <a:t>Debate y presentación en clase</a:t>
            </a:r>
            <a:endParaRPr lang="en-US" sz="1300" dirty="0"/>
          </a:p>
          <a:p>
            <a:pPr marL="342900" indent="-342900">
              <a:buSzPct val="100000"/>
              <a:buChar char="•"/>
            </a:pPr>
            <a:r>
              <a:rPr lang="en-US" sz="1300" dirty="0">
                <a:solidFill>
                  <a:srgbClr val="5A5F70"/>
                </a:solidFill>
                <a:latin typeface="Arial" pitchFamily="34" charset="0"/>
                <a:ea typeface="Arial" pitchFamily="34" charset="-122"/>
                <a:cs typeface="Arial" pitchFamily="34" charset="-120"/>
              </a:rPr>
              <a:t>Examen teórico de conocimientos</a:t>
            </a:r>
            <a:endParaRPr lang="en-US" sz="1300" dirty="0"/>
          </a:p>
          <a:p>
            <a:pPr marL="342900" indent="-342900">
              <a:buSzPct val="100000"/>
              <a:buChar char="•"/>
            </a:pPr>
            <a:r>
              <a:rPr lang="en-US" sz="1300" dirty="0">
                <a:solidFill>
                  <a:srgbClr val="5A5F70"/>
                </a:solidFill>
                <a:latin typeface="Arial" pitchFamily="34" charset="0"/>
                <a:ea typeface="Arial" pitchFamily="34" charset="-122"/>
                <a:cs typeface="Arial" pitchFamily="34" charset="-120"/>
              </a:rPr>
              <a:t>Sin consecuencias reales para el estudiante</a:t>
            </a:r>
            <a:endParaRPr lang="en-US" sz="1300" dirty="0"/>
          </a:p>
          <a:p>
            <a:pPr marL="342900" indent="-342900">
              <a:buSzPct val="100000"/>
              <a:buChar char="•"/>
            </a:pPr>
            <a:r>
              <a:rPr lang="en-US" sz="1300" dirty="0">
                <a:solidFill>
                  <a:srgbClr val="5A5F70"/>
                </a:solidFill>
                <a:latin typeface="Arial" pitchFamily="34" charset="0"/>
                <a:ea typeface="Arial" pitchFamily="34" charset="-122"/>
                <a:cs typeface="Arial" pitchFamily="34" charset="-120"/>
              </a:rPr>
              <a:t>Difícil medir competencias gerenciales</a:t>
            </a:r>
            <a:endParaRPr lang="en-US" sz="1300" dirty="0"/>
          </a:p>
        </p:txBody>
      </p:sp>
      <p:sp>
        <p:nvSpPr>
          <p:cNvPr id="6" name="Shape 4"/>
          <p:cNvSpPr/>
          <p:nvPr/>
        </p:nvSpPr>
        <p:spPr>
          <a:xfrm>
            <a:off x="4754880" y="1188720"/>
            <a:ext cx="3749040" cy="3474720"/>
          </a:xfrm>
          <a:prstGeom prst="roundRect">
            <a:avLst>
              <a:gd name="adj" fmla="val 3158"/>
            </a:avLst>
          </a:prstGeom>
          <a:solidFill>
            <a:srgbClr val="1C213C"/>
          </a:solidFill>
          <a:ln/>
          <a:effectLst>
            <a:outerShdw sx="100000" sy="100000" kx="0" ky="0" algn="bl" rotWithShape="0" blurRad="101600" dist="38100" dir="2700000">
              <a:srgbClr val="000000">
                <a:alpha val="12000"/>
              </a:srgbClr>
            </a:outerShdw>
          </a:effectLst>
        </p:spPr>
      </p:sp>
      <p:sp>
        <p:nvSpPr>
          <p:cNvPr id="7" name="Text 5"/>
          <p:cNvSpPr/>
          <p:nvPr/>
        </p:nvSpPr>
        <p:spPr>
          <a:xfrm>
            <a:off x="4754880" y="1280160"/>
            <a:ext cx="3749040" cy="457200"/>
          </a:xfrm>
          <a:prstGeom prst="rect">
            <a:avLst/>
          </a:prstGeom>
          <a:noFill/>
          <a:ln/>
        </p:spPr>
        <p:txBody>
          <a:bodyPr wrap="square" rtlCol="0" anchor="ctr"/>
          <a:lstStyle/>
          <a:p>
            <a:pPr algn="ctr" indent="0" marL="0">
              <a:buNone/>
            </a:pPr>
            <a:r>
              <a:rPr lang="en-US" sz="1600" b="1" dirty="0">
                <a:solidFill>
                  <a:srgbClr val="49C5B1"/>
                </a:solidFill>
                <a:latin typeface="Arial" pitchFamily="34" charset="0"/>
                <a:ea typeface="Arial" pitchFamily="34" charset="-122"/>
                <a:cs typeface="Arial" pitchFamily="34" charset="-120"/>
              </a:rPr>
              <a:t>Con simulador</a:t>
            </a:r>
            <a:endParaRPr lang="en-US" sz="1600" dirty="0"/>
          </a:p>
        </p:txBody>
      </p:sp>
      <p:sp>
        <p:nvSpPr>
          <p:cNvPr id="8" name="Text 6"/>
          <p:cNvSpPr/>
          <p:nvPr/>
        </p:nvSpPr>
        <p:spPr>
          <a:xfrm>
            <a:off x="5029200" y="1920240"/>
            <a:ext cx="3200400" cy="2560320"/>
          </a:xfrm>
          <a:prstGeom prst="rect">
            <a:avLst/>
          </a:prstGeom>
          <a:noFill/>
          <a:ln/>
        </p:spPr>
        <p:txBody>
          <a:bodyPr wrap="square" rtlCol="0" anchor="t"/>
          <a:lstStyle/>
          <a:p>
            <a:pPr marL="342900" indent="-342900">
              <a:buSzPct val="100000"/>
              <a:buChar char="•"/>
            </a:pPr>
            <a:r>
              <a:rPr lang="en-US" sz="1300" dirty="0">
                <a:solidFill>
                  <a:srgbClr val="FFFFFF"/>
                </a:solidFill>
                <a:latin typeface="Arial" pitchFamily="34" charset="0"/>
                <a:ea typeface="Arial" pitchFamily="34" charset="-122"/>
                <a:cs typeface="Arial" pitchFamily="34" charset="-120"/>
              </a:rPr>
              <a:t>Dirigir TU propia empresa virtual</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Tomar TUS decisiones con datos reales</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Competir contra tus compañeros</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Resultados inmediatos cada ronda</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Consecuencias reales (virtuales) de cada error</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Dashboard con métricas de aprendizaje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¿Qué exige el CNA sobre aprendizaje activo?</a:t>
            </a:r>
            <a:endParaRPr lang="en-US" sz="2800" dirty="0"/>
          </a:p>
        </p:txBody>
      </p:sp>
      <p:sp>
        <p:nvSpPr>
          <p:cNvPr id="3" name="Shape 1"/>
          <p:cNvSpPr/>
          <p:nvPr/>
        </p:nvSpPr>
        <p:spPr>
          <a:xfrm>
            <a:off x="640080" y="1188720"/>
            <a:ext cx="7863840" cy="1097280"/>
          </a:xfrm>
          <a:prstGeom prst="roundRect">
            <a:avLst>
              <a:gd name="adj" fmla="val 8333"/>
            </a:avLst>
          </a:prstGeom>
          <a:solidFill>
            <a:srgbClr val="FFF8E1"/>
          </a:solidFill>
          <a:ln/>
        </p:spPr>
      </p:sp>
      <p:pic>
        <p:nvPicPr>
          <p:cNvPr id="4" name="Image 0" descr="preencoded.png">    </p:cNvPr>
          <p:cNvPicPr>
            <a:picLocks noChangeAspect="1"/>
          </p:cNvPicPr>
          <p:nvPr/>
        </p:nvPicPr>
        <p:blipFill>
          <a:blip r:embed="rId1"/>
          <a:stretch>
            <a:fillRect/>
          </a:stretch>
        </p:blipFill>
        <p:spPr>
          <a:xfrm>
            <a:off x="822960" y="1371600"/>
            <a:ext cx="457200" cy="457200"/>
          </a:xfrm>
          <a:prstGeom prst="rect">
            <a:avLst/>
          </a:prstGeom>
        </p:spPr>
      </p:pic>
      <p:sp>
        <p:nvSpPr>
          <p:cNvPr id="5" name="Text 2"/>
          <p:cNvSpPr/>
          <p:nvPr/>
        </p:nvSpPr>
        <p:spPr>
          <a:xfrm>
            <a:off x="1463040" y="1280160"/>
            <a:ext cx="6400800" cy="365760"/>
          </a:xfrm>
          <a:prstGeom prst="rect">
            <a:avLst/>
          </a:prstGeom>
          <a:noFill/>
          <a:ln/>
        </p:spPr>
        <p:txBody>
          <a:bodyPr wrap="square" rtlCol="0" anchor="ctr"/>
          <a:lstStyle/>
          <a:p>
            <a:pPr indent="0" marL="0">
              <a:buNone/>
            </a:pPr>
            <a:r>
              <a:rPr lang="en-US" sz="1400" b="1" dirty="0">
                <a:solidFill>
                  <a:srgbClr val="1C213C"/>
                </a:solidFill>
                <a:latin typeface="Arial" pitchFamily="34" charset="0"/>
                <a:ea typeface="Arial" pitchFamily="34" charset="-122"/>
                <a:cs typeface="Arial" pitchFamily="34" charset="-120"/>
              </a:rPr>
              <a:t>Condición de Calidad — CNA:</a:t>
            </a:r>
            <a:endParaRPr lang="en-US" sz="1400" dirty="0"/>
          </a:p>
        </p:txBody>
      </p:sp>
      <p:sp>
        <p:nvSpPr>
          <p:cNvPr id="6" name="Text 3"/>
          <p:cNvSpPr/>
          <p:nvPr/>
        </p:nvSpPr>
        <p:spPr>
          <a:xfrm>
            <a:off x="1463040" y="1645920"/>
            <a:ext cx="6583680" cy="548640"/>
          </a:xfrm>
          <a:prstGeom prst="rect">
            <a:avLst/>
          </a:prstGeom>
          <a:noFill/>
          <a:ln/>
        </p:spPr>
        <p:txBody>
          <a:bodyPr wrap="square" rtlCol="0" anchor="ctr"/>
          <a:lstStyle/>
          <a:p>
            <a:pPr indent="0" marL="0">
              <a:buNone/>
            </a:pPr>
            <a:r>
              <a:rPr lang="en-US" sz="1200" i="1" dirty="0">
                <a:solidFill>
                  <a:srgbClr val="5A5F70"/>
                </a:solidFill>
                <a:latin typeface="Arial" pitchFamily="34" charset="0"/>
                <a:ea typeface="Arial" pitchFamily="34" charset="-122"/>
                <a:cs typeface="Arial" pitchFamily="34" charset="-120"/>
              </a:rPr>
              <a:t>"Estrategias de enseñanza y aprendizaje que promuevan la participación activa del estudiante en su proceso de formación y el desarrollo de competencias."</a:t>
            </a:r>
            <a:endParaRPr lang="en-US" sz="1200" dirty="0"/>
          </a:p>
        </p:txBody>
      </p:sp>
      <p:sp>
        <p:nvSpPr>
          <p:cNvPr id="7" name="Text 4"/>
          <p:cNvSpPr/>
          <p:nvPr/>
        </p:nvSpPr>
        <p:spPr>
          <a:xfrm>
            <a:off x="640080" y="2560320"/>
            <a:ext cx="7315200" cy="365760"/>
          </a:xfrm>
          <a:prstGeom prst="rect">
            <a:avLst/>
          </a:prstGeom>
          <a:noFill/>
          <a:ln/>
        </p:spPr>
        <p:txBody>
          <a:bodyPr wrap="square" lIns="0" tIns="0" rIns="0" bIns="0" rtlCol="0" anchor="ctr"/>
          <a:lstStyle/>
          <a:p>
            <a:pPr indent="0" marL="0">
              <a:buNone/>
            </a:pPr>
            <a:r>
              <a:rPr lang="en-US" sz="1500" b="1" dirty="0">
                <a:solidFill>
                  <a:srgbClr val="1C213C"/>
                </a:solidFill>
                <a:latin typeface="Arial" pitchFamily="34" charset="0"/>
                <a:ea typeface="Arial" pitchFamily="34" charset="-122"/>
                <a:cs typeface="Arial" pitchFamily="34" charset="-120"/>
              </a:rPr>
              <a:t>Esto significa que el CNA espera EVIDENCIA de:</a:t>
            </a:r>
            <a:endParaRPr lang="en-US" sz="1500" dirty="0"/>
          </a:p>
        </p:txBody>
      </p:sp>
      <p:pic>
        <p:nvPicPr>
          <p:cNvPr id="8" name="Image 1" descr="preencoded.png">    </p:cNvPr>
          <p:cNvPicPr>
            <a:picLocks noChangeAspect="1"/>
          </p:cNvPicPr>
          <p:nvPr/>
        </p:nvPicPr>
        <p:blipFill>
          <a:blip r:embed="rId2"/>
          <a:stretch>
            <a:fillRect/>
          </a:stretch>
        </p:blipFill>
        <p:spPr>
          <a:xfrm>
            <a:off x="822960" y="3063240"/>
            <a:ext cx="274320" cy="274320"/>
          </a:xfrm>
          <a:prstGeom prst="rect">
            <a:avLst/>
          </a:prstGeom>
        </p:spPr>
      </p:pic>
      <p:sp>
        <p:nvSpPr>
          <p:cNvPr id="9" name="Text 5"/>
          <p:cNvSpPr/>
          <p:nvPr/>
        </p:nvSpPr>
        <p:spPr>
          <a:xfrm>
            <a:off x="1280160" y="301752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Aprendizaje activo documentado</a:t>
            </a:r>
            <a:endParaRPr lang="en-US" sz="1300" dirty="0"/>
          </a:p>
        </p:txBody>
      </p:sp>
      <p:sp>
        <p:nvSpPr>
          <p:cNvPr id="10" name="Text 6"/>
          <p:cNvSpPr/>
          <p:nvPr/>
        </p:nvSpPr>
        <p:spPr>
          <a:xfrm>
            <a:off x="3931920" y="3017520"/>
            <a:ext cx="4572000" cy="36576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No solo clases magistrales — actividades donde el estudiante participa, decide, produce.</a:t>
            </a:r>
            <a:endParaRPr lang="en-US" sz="1100" dirty="0"/>
          </a:p>
        </p:txBody>
      </p:sp>
      <p:pic>
        <p:nvPicPr>
          <p:cNvPr id="11" name="Image 2" descr="preencoded.png">    </p:cNvPr>
          <p:cNvPicPr>
            <a:picLocks noChangeAspect="1"/>
          </p:cNvPicPr>
          <p:nvPr/>
        </p:nvPicPr>
        <p:blipFill>
          <a:blip r:embed="rId3"/>
          <a:stretch>
            <a:fillRect/>
          </a:stretch>
        </p:blipFill>
        <p:spPr>
          <a:xfrm>
            <a:off x="822960" y="3566160"/>
            <a:ext cx="274320" cy="274320"/>
          </a:xfrm>
          <a:prstGeom prst="rect">
            <a:avLst/>
          </a:prstGeom>
        </p:spPr>
      </p:pic>
      <p:sp>
        <p:nvSpPr>
          <p:cNvPr id="12" name="Text 7"/>
          <p:cNvSpPr/>
          <p:nvPr/>
        </p:nvSpPr>
        <p:spPr>
          <a:xfrm>
            <a:off x="1280160" y="352044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Competencias medibles</a:t>
            </a:r>
            <a:endParaRPr lang="en-US" sz="1300" dirty="0"/>
          </a:p>
        </p:txBody>
      </p:sp>
      <p:sp>
        <p:nvSpPr>
          <p:cNvPr id="13" name="Text 8"/>
          <p:cNvSpPr/>
          <p:nvPr/>
        </p:nvSpPr>
        <p:spPr>
          <a:xfrm>
            <a:off x="3931920" y="3520440"/>
            <a:ext cx="4572000" cy="36576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Resultados cuantificables: no solo notas de exámenes teóricos, sino evidencia de habilidades.</a:t>
            </a:r>
            <a:endParaRPr lang="en-US" sz="1100" dirty="0"/>
          </a:p>
        </p:txBody>
      </p:sp>
      <p:pic>
        <p:nvPicPr>
          <p:cNvPr id="14" name="Image 3" descr="preencoded.png">    </p:cNvPr>
          <p:cNvPicPr>
            <a:picLocks noChangeAspect="1"/>
          </p:cNvPicPr>
          <p:nvPr/>
        </p:nvPicPr>
        <p:blipFill>
          <a:blip r:embed="rId4"/>
          <a:stretch>
            <a:fillRect/>
          </a:stretch>
        </p:blipFill>
        <p:spPr>
          <a:xfrm>
            <a:off x="822960" y="4069080"/>
            <a:ext cx="274320" cy="274320"/>
          </a:xfrm>
          <a:prstGeom prst="rect">
            <a:avLst/>
          </a:prstGeom>
        </p:spPr>
      </p:pic>
      <p:sp>
        <p:nvSpPr>
          <p:cNvPr id="15" name="Text 9"/>
          <p:cNvSpPr/>
          <p:nvPr/>
        </p:nvSpPr>
        <p:spPr>
          <a:xfrm>
            <a:off x="1280160" y="402336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Trabajo colaborativo</a:t>
            </a:r>
            <a:endParaRPr lang="en-US" sz="1300" dirty="0"/>
          </a:p>
        </p:txBody>
      </p:sp>
      <p:sp>
        <p:nvSpPr>
          <p:cNvPr id="16" name="Text 10"/>
          <p:cNvSpPr/>
          <p:nvPr/>
        </p:nvSpPr>
        <p:spPr>
          <a:xfrm>
            <a:off x="3931920" y="4023360"/>
            <a:ext cx="4572000" cy="36576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Equipos que trabajan juntos en problemas complejos, con roles definidos.</a:t>
            </a:r>
            <a:endParaRPr lang="en-US" sz="1100" dirty="0"/>
          </a:p>
        </p:txBody>
      </p:sp>
      <p:pic>
        <p:nvPicPr>
          <p:cNvPr id="17" name="Image 4" descr="preencoded.png">    </p:cNvPr>
          <p:cNvPicPr>
            <a:picLocks noChangeAspect="1"/>
          </p:cNvPicPr>
          <p:nvPr/>
        </p:nvPicPr>
        <p:blipFill>
          <a:blip r:embed="rId5"/>
          <a:stretch>
            <a:fillRect/>
          </a:stretch>
        </p:blipFill>
        <p:spPr>
          <a:xfrm>
            <a:off x="822960" y="4572000"/>
            <a:ext cx="274320" cy="274320"/>
          </a:xfrm>
          <a:prstGeom prst="rect">
            <a:avLst/>
          </a:prstGeom>
        </p:spPr>
      </p:pic>
      <p:sp>
        <p:nvSpPr>
          <p:cNvPr id="18" name="Text 11"/>
          <p:cNvSpPr/>
          <p:nvPr/>
        </p:nvSpPr>
        <p:spPr>
          <a:xfrm>
            <a:off x="1280160" y="452628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Uso de tecnología educativa</a:t>
            </a:r>
            <a:endParaRPr lang="en-US" sz="1300" dirty="0"/>
          </a:p>
        </p:txBody>
      </p:sp>
      <p:sp>
        <p:nvSpPr>
          <p:cNvPr id="19" name="Text 12"/>
          <p:cNvSpPr/>
          <p:nvPr/>
        </p:nvSpPr>
        <p:spPr>
          <a:xfrm>
            <a:off x="3931920" y="4526280"/>
            <a:ext cx="4572000" cy="36576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Herramientas que potencien el proceso de enseñanza-aprendizaje.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9C5B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457200"/>
            <a:ext cx="914400" cy="914400"/>
          </a:xfrm>
          <a:prstGeom prst="rect">
            <a:avLst/>
          </a:prstGeom>
        </p:spPr>
      </p:pic>
      <p:sp>
        <p:nvSpPr>
          <p:cNvPr id="3" name="Text 0"/>
          <p:cNvSpPr/>
          <p:nvPr/>
        </p:nvSpPr>
        <p:spPr>
          <a:xfrm>
            <a:off x="914400" y="1463040"/>
            <a:ext cx="7315200" cy="5486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La presión de la acreditación</a:t>
            </a:r>
            <a:endParaRPr lang="en-US" sz="2800" dirty="0"/>
          </a:p>
        </p:txBody>
      </p:sp>
      <p:sp>
        <p:nvSpPr>
          <p:cNvPr id="4" name="Text 1"/>
          <p:cNvSpPr/>
          <p:nvPr/>
        </p:nvSpPr>
        <p:spPr>
          <a:xfrm>
            <a:off x="914400" y="2103120"/>
            <a:ext cx="7315200" cy="365760"/>
          </a:xfrm>
          <a:prstGeom prst="rect">
            <a:avLst/>
          </a:prstGeom>
          <a:noFill/>
          <a:ln/>
        </p:spPr>
        <p:txBody>
          <a:bodyPr wrap="square" rtlCol="0" anchor="ctr"/>
          <a:lstStyle/>
          <a:p>
            <a:pPr algn="ctr" indent="0" marL="0">
              <a:buNone/>
            </a:pPr>
            <a:r>
              <a:rPr lang="en-US" sz="1600" dirty="0">
                <a:solidFill>
                  <a:srgbClr val="1C213C"/>
                </a:solidFill>
                <a:latin typeface="Arial" pitchFamily="34" charset="0"/>
                <a:ea typeface="Arial" pitchFamily="34" charset="-122"/>
                <a:cs typeface="Arial" pitchFamily="34" charset="-120"/>
              </a:rPr>
              <a:t>Los pares evaluadores preguntan:</a:t>
            </a:r>
            <a:endParaRPr lang="en-US" sz="1600" dirty="0"/>
          </a:p>
        </p:txBody>
      </p:sp>
      <p:sp>
        <p:nvSpPr>
          <p:cNvPr id="5" name="Shape 2"/>
          <p:cNvSpPr/>
          <p:nvPr/>
        </p:nvSpPr>
        <p:spPr>
          <a:xfrm>
            <a:off x="1371600" y="2743200"/>
            <a:ext cx="6400800" cy="457200"/>
          </a:xfrm>
          <a:prstGeom prst="roundRect">
            <a:avLst>
              <a:gd name="adj" fmla="val 16000"/>
            </a:avLst>
          </a:prstGeom>
          <a:solidFill>
            <a:srgbClr val="FFFFFF">
              <a:alpha val="85000"/>
            </a:srgbClr>
          </a:solidFill>
          <a:ln/>
        </p:spPr>
      </p:sp>
      <p:sp>
        <p:nvSpPr>
          <p:cNvPr id="6" name="Text 3"/>
          <p:cNvSpPr/>
          <p:nvPr/>
        </p:nvSpPr>
        <p:spPr>
          <a:xfrm>
            <a:off x="1554480" y="2743200"/>
            <a:ext cx="6035040" cy="45720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"¿Cómo desarrollan competencias gerenciales en sus estudiantes?"</a:t>
            </a:r>
            <a:endParaRPr lang="en-US" sz="1300" dirty="0"/>
          </a:p>
        </p:txBody>
      </p:sp>
      <p:sp>
        <p:nvSpPr>
          <p:cNvPr id="7" name="Shape 4"/>
          <p:cNvSpPr/>
          <p:nvPr/>
        </p:nvSpPr>
        <p:spPr>
          <a:xfrm>
            <a:off x="1371600" y="3291840"/>
            <a:ext cx="6400800" cy="457200"/>
          </a:xfrm>
          <a:prstGeom prst="roundRect">
            <a:avLst>
              <a:gd name="adj" fmla="val 16000"/>
            </a:avLst>
          </a:prstGeom>
          <a:solidFill>
            <a:srgbClr val="FFFFFF">
              <a:alpha val="85000"/>
            </a:srgbClr>
          </a:solidFill>
          <a:ln/>
        </p:spPr>
      </p:sp>
      <p:sp>
        <p:nvSpPr>
          <p:cNvPr id="8" name="Text 5"/>
          <p:cNvSpPr/>
          <p:nvPr/>
        </p:nvSpPr>
        <p:spPr>
          <a:xfrm>
            <a:off x="1554480" y="3291840"/>
            <a:ext cx="6035040" cy="45720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"¿Qué evidencia tienen de aprendizaje activo?"</a:t>
            </a:r>
            <a:endParaRPr lang="en-US" sz="1300" dirty="0"/>
          </a:p>
        </p:txBody>
      </p:sp>
      <p:sp>
        <p:nvSpPr>
          <p:cNvPr id="9" name="Shape 6"/>
          <p:cNvSpPr/>
          <p:nvPr/>
        </p:nvSpPr>
        <p:spPr>
          <a:xfrm>
            <a:off x="1371600" y="3840480"/>
            <a:ext cx="6400800" cy="457200"/>
          </a:xfrm>
          <a:prstGeom prst="roundRect">
            <a:avLst>
              <a:gd name="adj" fmla="val 16000"/>
            </a:avLst>
          </a:prstGeom>
          <a:solidFill>
            <a:srgbClr val="FFFFFF">
              <a:alpha val="85000"/>
            </a:srgbClr>
          </a:solidFill>
          <a:ln/>
        </p:spPr>
      </p:sp>
      <p:sp>
        <p:nvSpPr>
          <p:cNvPr id="10" name="Text 7"/>
          <p:cNvSpPr/>
          <p:nvPr/>
        </p:nvSpPr>
        <p:spPr>
          <a:xfrm>
            <a:off x="1554480" y="3840480"/>
            <a:ext cx="6035040" cy="45720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"¿Qué herramientas tecnológicas usan en el aula?"</a:t>
            </a:r>
            <a:endParaRPr lang="en-US" sz="1300" dirty="0"/>
          </a:p>
        </p:txBody>
      </p:sp>
      <p:sp>
        <p:nvSpPr>
          <p:cNvPr id="11" name="Shape 8"/>
          <p:cNvSpPr/>
          <p:nvPr/>
        </p:nvSpPr>
        <p:spPr>
          <a:xfrm>
            <a:off x="1371600" y="4389120"/>
            <a:ext cx="6400800" cy="457200"/>
          </a:xfrm>
          <a:prstGeom prst="roundRect">
            <a:avLst>
              <a:gd name="adj" fmla="val 16000"/>
            </a:avLst>
          </a:prstGeom>
          <a:solidFill>
            <a:srgbClr val="FFFFFF">
              <a:alpha val="85000"/>
            </a:srgbClr>
          </a:solidFill>
          <a:ln/>
        </p:spPr>
      </p:sp>
      <p:sp>
        <p:nvSpPr>
          <p:cNvPr id="12" name="Text 9"/>
          <p:cNvSpPr/>
          <p:nvPr/>
        </p:nvSpPr>
        <p:spPr>
          <a:xfrm>
            <a:off x="1554480" y="4389120"/>
            <a:ext cx="6035040" cy="457200"/>
          </a:xfrm>
          <a:prstGeom prst="rect">
            <a:avLst/>
          </a:prstGeom>
          <a:noFill/>
          <a:ln/>
        </p:spPr>
        <p:txBody>
          <a:bodyPr wrap="square" rtlCol="0" anchor="ctr"/>
          <a:lstStyle/>
          <a:p>
            <a:pPr indent="0" marL="0">
              <a:buNone/>
            </a:pPr>
            <a:r>
              <a:rPr lang="en-US" sz="1300" i="1" dirty="0">
                <a:solidFill>
                  <a:srgbClr val="FFFFFF"/>
                </a:solidFill>
                <a:latin typeface="Arial" pitchFamily="34" charset="0"/>
                <a:ea typeface="Arial" pitchFamily="34" charset="-122"/>
                <a:cs typeface="Arial" pitchFamily="34" charset="-120"/>
              </a:rPr>
              <a:t>"¿Cómo miden el impacto de sus estrategias pedagógicas?"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213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731520"/>
            <a:ext cx="731520" cy="731520"/>
          </a:xfrm>
          <a:prstGeom prst="rect">
            <a:avLst/>
          </a:prstGeom>
        </p:spPr>
      </p:pic>
      <p:sp>
        <p:nvSpPr>
          <p:cNvPr id="3" name="Text 0"/>
          <p:cNvSpPr/>
          <p:nvPr/>
        </p:nvSpPr>
        <p:spPr>
          <a:xfrm>
            <a:off x="914400" y="1645920"/>
            <a:ext cx="7315200" cy="1828800"/>
          </a:xfrm>
          <a:prstGeom prst="rect">
            <a:avLst/>
          </a:prstGeom>
          <a:noFill/>
          <a:ln/>
        </p:spPr>
        <p:txBody>
          <a:bodyPr wrap="square" rtlCol="0" anchor="ctr"/>
          <a:lstStyle/>
          <a:p>
            <a:pPr algn="ctr" indent="0" marL="0">
              <a:buNone/>
            </a:pPr>
            <a:r>
              <a:rPr lang="en-US" sz="2200" i="1" dirty="0">
                <a:solidFill>
                  <a:srgbClr val="FFFFFF"/>
                </a:solidFill>
                <a:latin typeface="Arial" pitchFamily="34" charset="0"/>
                <a:ea typeface="Arial" pitchFamily="34" charset="-122"/>
                <a:cs typeface="Arial" pitchFamily="34" charset="-120"/>
              </a:rPr>
              <a:t>"Aprendí más en 8 rondas de simulación</a:t>
            </a:r>
            <a:endParaRPr lang="en-US" sz="2200" dirty="0"/>
          </a:p>
          <a:p>
            <a:pPr algn="ctr" indent="0" marL="0">
              <a:buNone/>
            </a:pPr>
            <a:r>
              <a:rPr lang="en-US" sz="2200" i="1" dirty="0">
                <a:solidFill>
                  <a:srgbClr val="FFFFFF"/>
                </a:solidFill>
                <a:latin typeface="Arial" pitchFamily="34" charset="0"/>
                <a:ea typeface="Arial" pitchFamily="34" charset="-122"/>
                <a:cs typeface="Arial" pitchFamily="34" charset="-120"/>
              </a:rPr>
              <a:t>que en todo un semestre de clases magistrales.</a:t>
            </a:r>
            <a:endParaRPr lang="en-US" sz="2200" dirty="0"/>
          </a:p>
          <a:p>
            <a:pPr algn="ctr" indent="0" marL="0">
              <a:buNone/>
            </a:pPr>
            <a:r>
              <a:rPr lang="en-US" sz="2200" i="1" dirty="0">
                <a:solidFill>
                  <a:srgbClr val="FFFFFF"/>
                </a:solidFill>
                <a:latin typeface="Arial" pitchFamily="34" charset="0"/>
                <a:ea typeface="Arial" pitchFamily="34" charset="-122"/>
                <a:cs typeface="Arial" pitchFamily="34" charset="-120"/>
              </a:rPr>
              <a:t>Por primera vez sentí que estaba</a:t>
            </a:r>
            <a:endParaRPr lang="en-US" sz="2200" dirty="0"/>
          </a:p>
          <a:p>
            <a:pPr algn="ctr" indent="0" marL="0">
              <a:buNone/>
            </a:pPr>
            <a:r>
              <a:rPr lang="en-US" sz="2200" i="1" dirty="0">
                <a:solidFill>
                  <a:srgbClr val="FFFFFF"/>
                </a:solidFill>
                <a:latin typeface="Arial" pitchFamily="34" charset="0"/>
                <a:ea typeface="Arial" pitchFamily="34" charset="-122"/>
                <a:cs typeface="Arial" pitchFamily="34" charset="-120"/>
              </a:rPr>
              <a:t>tomando decisiones de verdad."</a:t>
            </a:r>
            <a:endParaRPr lang="en-US" sz="2200" dirty="0"/>
          </a:p>
        </p:txBody>
      </p:sp>
      <p:sp>
        <p:nvSpPr>
          <p:cNvPr id="4" name="Text 1"/>
          <p:cNvSpPr/>
          <p:nvPr/>
        </p:nvSpPr>
        <p:spPr>
          <a:xfrm>
            <a:off x="914400" y="3657600"/>
            <a:ext cx="7315200" cy="457200"/>
          </a:xfrm>
          <a:prstGeom prst="rect">
            <a:avLst/>
          </a:prstGeom>
          <a:noFill/>
          <a:ln/>
        </p:spPr>
        <p:txBody>
          <a:bodyPr wrap="square" rtlCol="0" anchor="ctr"/>
          <a:lstStyle/>
          <a:p>
            <a:pPr algn="ctr" indent="0" marL="0">
              <a:buNone/>
            </a:pPr>
            <a:r>
              <a:rPr lang="en-US" sz="1400" dirty="0">
                <a:solidFill>
                  <a:srgbClr val="49C5B1"/>
                </a:solidFill>
                <a:latin typeface="Arial" pitchFamily="34" charset="0"/>
                <a:ea typeface="Arial" pitchFamily="34" charset="-122"/>
                <a:cs typeface="Arial" pitchFamily="34" charset="-120"/>
              </a:rPr>
              <a:t>— Estudiante de Administración de Empresas, 8vo semestre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¿Qué es un simulador de negocios?</a:t>
            </a:r>
            <a:endParaRPr lang="en-US" sz="2800" dirty="0"/>
          </a:p>
        </p:txBody>
      </p:sp>
      <p:sp>
        <p:nvSpPr>
          <p:cNvPr id="3" name="Shape 1"/>
          <p:cNvSpPr/>
          <p:nvPr/>
        </p:nvSpPr>
        <p:spPr>
          <a:xfrm>
            <a:off x="640080" y="1188720"/>
            <a:ext cx="2560320" cy="3474720"/>
          </a:xfrm>
          <a:prstGeom prst="roundRect">
            <a:avLst>
              <a:gd name="adj" fmla="val 4286"/>
            </a:avLst>
          </a:prstGeom>
          <a:solidFill>
            <a:srgbClr val="F5F7FA"/>
          </a:solidFill>
          <a:ln/>
          <a:effectLst>
            <a:outerShdw sx="100000" sy="100000" kx="0" ky="0" algn="bl" rotWithShape="0" blurRad="101600" dist="38100" dir="2700000">
              <a:srgbClr val="000000">
                <a:alpha val="12000"/>
              </a:srgbClr>
            </a:outerShdw>
          </a:effectLst>
        </p:spPr>
      </p:sp>
      <p:sp>
        <p:nvSpPr>
          <p:cNvPr id="4" name="Shape 2"/>
          <p:cNvSpPr/>
          <p:nvPr/>
        </p:nvSpPr>
        <p:spPr>
          <a:xfrm>
            <a:off x="1463040" y="1463040"/>
            <a:ext cx="914400" cy="914400"/>
          </a:xfrm>
          <a:prstGeom prst="ellipse">
            <a:avLst/>
          </a:prstGeom>
          <a:solidFill>
            <a:srgbClr val="1C213C"/>
          </a:solidFill>
          <a:ln/>
        </p:spPr>
      </p:sp>
      <p:pic>
        <p:nvPicPr>
          <p:cNvPr id="5" name="Image 0" descr="preencoded.png">    </p:cNvPr>
          <p:cNvPicPr>
            <a:picLocks noChangeAspect="1"/>
          </p:cNvPicPr>
          <p:nvPr/>
        </p:nvPicPr>
        <p:blipFill>
          <a:blip r:embed="rId1"/>
          <a:stretch>
            <a:fillRect/>
          </a:stretch>
        </p:blipFill>
        <p:spPr>
          <a:xfrm>
            <a:off x="1645920" y="1600200"/>
            <a:ext cx="548640" cy="548640"/>
          </a:xfrm>
          <a:prstGeom prst="rect">
            <a:avLst/>
          </a:prstGeom>
        </p:spPr>
      </p:pic>
      <p:sp>
        <p:nvSpPr>
          <p:cNvPr id="6" name="Text 3"/>
          <p:cNvSpPr/>
          <p:nvPr/>
        </p:nvSpPr>
        <p:spPr>
          <a:xfrm>
            <a:off x="640080" y="2560320"/>
            <a:ext cx="2560320" cy="457200"/>
          </a:xfrm>
          <a:prstGeom prst="rect">
            <a:avLst/>
          </a:prstGeom>
          <a:noFill/>
          <a:ln/>
        </p:spPr>
        <p:txBody>
          <a:bodyPr wrap="square" rtlCol="0" anchor="ctr"/>
          <a:lstStyle/>
          <a:p>
            <a:pPr algn="ctr" indent="0" marL="0">
              <a:buNone/>
            </a:pPr>
            <a:r>
              <a:rPr lang="en-US" sz="1500" b="1" dirty="0">
                <a:solidFill>
                  <a:srgbClr val="1C213C"/>
                </a:solidFill>
                <a:latin typeface="Arial" pitchFamily="34" charset="0"/>
                <a:ea typeface="Arial" pitchFamily="34" charset="-122"/>
                <a:cs typeface="Arial" pitchFamily="34" charset="-120"/>
              </a:rPr>
              <a:t>Plataforma 100% web</a:t>
            </a:r>
            <a:endParaRPr lang="en-US" sz="1500" dirty="0"/>
          </a:p>
        </p:txBody>
      </p:sp>
      <p:sp>
        <p:nvSpPr>
          <p:cNvPr id="7" name="Text 4"/>
          <p:cNvSpPr/>
          <p:nvPr/>
        </p:nvSpPr>
        <p:spPr>
          <a:xfrm>
            <a:off x="822960" y="3017520"/>
            <a:ext cx="2194560" cy="1371600"/>
          </a:xfrm>
          <a:prstGeom prst="rect">
            <a:avLst/>
          </a:prstGeom>
          <a:noFill/>
          <a:ln/>
        </p:spPr>
        <p:txBody>
          <a:bodyPr wrap="square" rtlCol="0" anchor="ctr"/>
          <a:lstStyle/>
          <a:p>
            <a:pPr algn="ctr" indent="0" marL="0">
              <a:buNone/>
            </a:pPr>
            <a:r>
              <a:rPr lang="en-US" sz="1100" dirty="0">
                <a:solidFill>
                  <a:srgbClr val="5A5F70"/>
                </a:solidFill>
                <a:latin typeface="Arial" pitchFamily="34" charset="0"/>
                <a:ea typeface="Arial" pitchFamily="34" charset="-122"/>
                <a:cs typeface="Arial" pitchFamily="34" charset="-120"/>
              </a:rPr>
              <a:t>Los estudiantes acceden desde cualquier dispositivo. No hay que instalar nada. Solo navegador e internet.</a:t>
            </a:r>
            <a:endParaRPr lang="en-US" sz="1100" dirty="0"/>
          </a:p>
        </p:txBody>
      </p:sp>
      <p:sp>
        <p:nvSpPr>
          <p:cNvPr id="8" name="Shape 5"/>
          <p:cNvSpPr/>
          <p:nvPr/>
        </p:nvSpPr>
        <p:spPr>
          <a:xfrm>
            <a:off x="3474720" y="1188720"/>
            <a:ext cx="2560320" cy="3474720"/>
          </a:xfrm>
          <a:prstGeom prst="roundRect">
            <a:avLst>
              <a:gd name="adj" fmla="val 4286"/>
            </a:avLst>
          </a:prstGeom>
          <a:solidFill>
            <a:srgbClr val="F5F7FA"/>
          </a:solidFill>
          <a:ln/>
          <a:effectLst>
            <a:outerShdw sx="100000" sy="100000" kx="0" ky="0" algn="bl" rotWithShape="0" blurRad="101600" dist="38100" dir="2700000">
              <a:srgbClr val="000000">
                <a:alpha val="12000"/>
              </a:srgbClr>
            </a:outerShdw>
          </a:effectLst>
        </p:spPr>
      </p:sp>
      <p:sp>
        <p:nvSpPr>
          <p:cNvPr id="9" name="Shape 6"/>
          <p:cNvSpPr/>
          <p:nvPr/>
        </p:nvSpPr>
        <p:spPr>
          <a:xfrm>
            <a:off x="4297680" y="1463040"/>
            <a:ext cx="914400" cy="914400"/>
          </a:xfrm>
          <a:prstGeom prst="ellipse">
            <a:avLst/>
          </a:prstGeom>
          <a:solidFill>
            <a:srgbClr val="1C213C"/>
          </a:solidFill>
          <a:ln/>
        </p:spPr>
      </p:sp>
      <p:pic>
        <p:nvPicPr>
          <p:cNvPr id="10" name="Image 1" descr="preencoded.png">    </p:cNvPr>
          <p:cNvPicPr>
            <a:picLocks noChangeAspect="1"/>
          </p:cNvPicPr>
          <p:nvPr/>
        </p:nvPicPr>
        <p:blipFill>
          <a:blip r:embed="rId2"/>
          <a:stretch>
            <a:fillRect/>
          </a:stretch>
        </p:blipFill>
        <p:spPr>
          <a:xfrm>
            <a:off x="4480560" y="1600200"/>
            <a:ext cx="548640" cy="548640"/>
          </a:xfrm>
          <a:prstGeom prst="rect">
            <a:avLst/>
          </a:prstGeom>
        </p:spPr>
      </p:pic>
      <p:sp>
        <p:nvSpPr>
          <p:cNvPr id="11" name="Text 7"/>
          <p:cNvSpPr/>
          <p:nvPr/>
        </p:nvSpPr>
        <p:spPr>
          <a:xfrm>
            <a:off x="3474720" y="2560320"/>
            <a:ext cx="2560320" cy="457200"/>
          </a:xfrm>
          <a:prstGeom prst="rect">
            <a:avLst/>
          </a:prstGeom>
          <a:noFill/>
          <a:ln/>
        </p:spPr>
        <p:txBody>
          <a:bodyPr wrap="square" rtlCol="0" anchor="ctr"/>
          <a:lstStyle/>
          <a:p>
            <a:pPr algn="ctr" indent="0" marL="0">
              <a:buNone/>
            </a:pPr>
            <a:r>
              <a:rPr lang="en-US" sz="1500" b="1" dirty="0">
                <a:solidFill>
                  <a:srgbClr val="1C213C"/>
                </a:solidFill>
                <a:latin typeface="Arial" pitchFamily="34" charset="0"/>
                <a:ea typeface="Arial" pitchFamily="34" charset="-122"/>
                <a:cs typeface="Arial" pitchFamily="34" charset="-120"/>
              </a:rPr>
              <a:t>Empresa virtual realista</a:t>
            </a:r>
            <a:endParaRPr lang="en-US" sz="1500" dirty="0"/>
          </a:p>
        </p:txBody>
      </p:sp>
      <p:sp>
        <p:nvSpPr>
          <p:cNvPr id="12" name="Text 8"/>
          <p:cNvSpPr/>
          <p:nvPr/>
        </p:nvSpPr>
        <p:spPr>
          <a:xfrm>
            <a:off x="3657600" y="3017520"/>
            <a:ext cx="2194560" cy="1371600"/>
          </a:xfrm>
          <a:prstGeom prst="rect">
            <a:avLst/>
          </a:prstGeom>
          <a:noFill/>
          <a:ln/>
        </p:spPr>
        <p:txBody>
          <a:bodyPr wrap="square" rtlCol="0" anchor="ctr"/>
          <a:lstStyle/>
          <a:p>
            <a:pPr algn="ctr" indent="0" marL="0">
              <a:buNone/>
            </a:pPr>
            <a:r>
              <a:rPr lang="en-US" sz="1100" dirty="0">
                <a:solidFill>
                  <a:srgbClr val="5A5F70"/>
                </a:solidFill>
                <a:latin typeface="Arial" pitchFamily="34" charset="0"/>
                <a:ea typeface="Arial" pitchFamily="34" charset="-122"/>
                <a:cs typeface="Arial" pitchFamily="34" charset="-120"/>
              </a:rPr>
              <a:t>Cada equipo recibe una empresa con estados financieros reales: P&amp;L, balance, flujo de caja, mercado.</a:t>
            </a:r>
            <a:endParaRPr lang="en-US" sz="1100" dirty="0"/>
          </a:p>
        </p:txBody>
      </p:sp>
      <p:sp>
        <p:nvSpPr>
          <p:cNvPr id="13" name="Shape 9"/>
          <p:cNvSpPr/>
          <p:nvPr/>
        </p:nvSpPr>
        <p:spPr>
          <a:xfrm>
            <a:off x="6309360" y="1188720"/>
            <a:ext cx="2560320" cy="3474720"/>
          </a:xfrm>
          <a:prstGeom prst="roundRect">
            <a:avLst>
              <a:gd name="adj" fmla="val 4286"/>
            </a:avLst>
          </a:prstGeom>
          <a:solidFill>
            <a:srgbClr val="F5F7FA"/>
          </a:solidFill>
          <a:ln/>
          <a:effectLst>
            <a:outerShdw sx="100000" sy="100000" kx="0" ky="0" algn="bl" rotWithShape="0" blurRad="101600" dist="38100" dir="2700000">
              <a:srgbClr val="000000">
                <a:alpha val="12000"/>
              </a:srgbClr>
            </a:outerShdw>
          </a:effectLst>
        </p:spPr>
      </p:sp>
      <p:sp>
        <p:nvSpPr>
          <p:cNvPr id="14" name="Shape 10"/>
          <p:cNvSpPr/>
          <p:nvPr/>
        </p:nvSpPr>
        <p:spPr>
          <a:xfrm>
            <a:off x="7132320" y="1463040"/>
            <a:ext cx="914400" cy="914400"/>
          </a:xfrm>
          <a:prstGeom prst="ellipse">
            <a:avLst/>
          </a:prstGeom>
          <a:solidFill>
            <a:srgbClr val="1C213C"/>
          </a:solidFill>
          <a:ln/>
        </p:spPr>
      </p:sp>
      <p:pic>
        <p:nvPicPr>
          <p:cNvPr id="15" name="Image 2" descr="preencoded.png">    </p:cNvPr>
          <p:cNvPicPr>
            <a:picLocks noChangeAspect="1"/>
          </p:cNvPicPr>
          <p:nvPr/>
        </p:nvPicPr>
        <p:blipFill>
          <a:blip r:embed="rId3"/>
          <a:stretch>
            <a:fillRect/>
          </a:stretch>
        </p:blipFill>
        <p:spPr>
          <a:xfrm>
            <a:off x="7315200" y="1600200"/>
            <a:ext cx="548640" cy="548640"/>
          </a:xfrm>
          <a:prstGeom prst="rect">
            <a:avLst/>
          </a:prstGeom>
        </p:spPr>
      </p:pic>
      <p:sp>
        <p:nvSpPr>
          <p:cNvPr id="16" name="Text 11"/>
          <p:cNvSpPr/>
          <p:nvPr/>
        </p:nvSpPr>
        <p:spPr>
          <a:xfrm>
            <a:off x="6309360" y="2560320"/>
            <a:ext cx="2560320" cy="457200"/>
          </a:xfrm>
          <a:prstGeom prst="rect">
            <a:avLst/>
          </a:prstGeom>
          <a:noFill/>
          <a:ln/>
        </p:spPr>
        <p:txBody>
          <a:bodyPr wrap="square" rtlCol="0" anchor="ctr"/>
          <a:lstStyle/>
          <a:p>
            <a:pPr algn="ctr" indent="0" marL="0">
              <a:buNone/>
            </a:pPr>
            <a:r>
              <a:rPr lang="en-US" sz="1500" b="1" dirty="0">
                <a:solidFill>
                  <a:srgbClr val="1C213C"/>
                </a:solidFill>
                <a:latin typeface="Arial" pitchFamily="34" charset="0"/>
                <a:ea typeface="Arial" pitchFamily="34" charset="-122"/>
                <a:cs typeface="Arial" pitchFamily="34" charset="-120"/>
              </a:rPr>
              <a:t>Aprendizaje medible</a:t>
            </a:r>
            <a:endParaRPr lang="en-US" sz="1500" dirty="0"/>
          </a:p>
        </p:txBody>
      </p:sp>
      <p:sp>
        <p:nvSpPr>
          <p:cNvPr id="17" name="Text 12"/>
          <p:cNvSpPr/>
          <p:nvPr/>
        </p:nvSpPr>
        <p:spPr>
          <a:xfrm>
            <a:off x="6492240" y="3017520"/>
            <a:ext cx="2194560" cy="1371600"/>
          </a:xfrm>
          <a:prstGeom prst="rect">
            <a:avLst/>
          </a:prstGeom>
          <a:noFill/>
          <a:ln/>
        </p:spPr>
        <p:txBody>
          <a:bodyPr wrap="square" rtlCol="0" anchor="ctr"/>
          <a:lstStyle/>
          <a:p>
            <a:pPr algn="ctr" indent="0" marL="0">
              <a:buNone/>
            </a:pPr>
            <a:r>
              <a:rPr lang="en-US" sz="1100" dirty="0">
                <a:solidFill>
                  <a:srgbClr val="5A5F70"/>
                </a:solidFill>
                <a:latin typeface="Arial" pitchFamily="34" charset="0"/>
                <a:ea typeface="Arial" pitchFamily="34" charset="-122"/>
                <a:cs typeface="Arial" pitchFamily="34" charset="-120"/>
              </a:rPr>
              <a:t>El profesor tiene un dashboard en tiempo real: ranking, decisiones, métricas de desempeño por equipo.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9C5B1"/>
        </a:solidFill>
      </p:bgPr>
    </p:bg>
    <p:spTree>
      <p:nvGrpSpPr>
        <p:cNvPr id="1" name=""/>
        <p:cNvGrpSpPr/>
        <p:nvPr/>
      </p:nvGrpSpPr>
      <p:grpSpPr>
        <a:xfrm>
          <a:off x="0" y="0"/>
          <a:ext cx="0" cy="0"/>
          <a:chOff x="0" y="0"/>
          <a:chExt cx="0" cy="0"/>
        </a:xfrm>
      </p:grpSpPr>
      <p:sp>
        <p:nvSpPr>
          <p:cNvPr id="2" name="Text 0"/>
          <p:cNvSpPr/>
          <p:nvPr/>
        </p:nvSpPr>
        <p:spPr>
          <a:xfrm>
            <a:off x="64008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¿Cómo funciona CompanyGame?</a:t>
            </a:r>
            <a:endParaRPr lang="en-US" sz="2800" dirty="0"/>
          </a:p>
        </p:txBody>
      </p:sp>
      <p:sp>
        <p:nvSpPr>
          <p:cNvPr id="3" name="Shape 1"/>
          <p:cNvSpPr/>
          <p:nvPr/>
        </p:nvSpPr>
        <p:spPr>
          <a:xfrm>
            <a:off x="457200" y="1188720"/>
            <a:ext cx="1965960" cy="3474720"/>
          </a:xfrm>
          <a:prstGeom prst="roundRect">
            <a:avLst>
              <a:gd name="adj" fmla="val 5581"/>
            </a:avLst>
          </a:prstGeom>
          <a:solidFill>
            <a:srgbClr val="FFFFFF"/>
          </a:solidFill>
          <a:ln/>
          <a:effectLst>
            <a:outerShdw sx="100000" sy="100000" kx="0" ky="0" algn="bl" rotWithShape="0" blurRad="101600" dist="38100" dir="2700000">
              <a:srgbClr val="000000">
                <a:alpha val="12000"/>
              </a:srgbClr>
            </a:outerShdw>
          </a:effectLst>
        </p:spPr>
      </p:sp>
      <p:sp>
        <p:nvSpPr>
          <p:cNvPr id="4" name="Shape 2"/>
          <p:cNvSpPr/>
          <p:nvPr/>
        </p:nvSpPr>
        <p:spPr>
          <a:xfrm>
            <a:off x="1097280" y="1417320"/>
            <a:ext cx="685800" cy="685800"/>
          </a:xfrm>
          <a:prstGeom prst="ellipse">
            <a:avLst/>
          </a:prstGeom>
          <a:solidFill>
            <a:srgbClr val="1C213C"/>
          </a:solidFill>
          <a:ln/>
        </p:spPr>
      </p:sp>
      <p:sp>
        <p:nvSpPr>
          <p:cNvPr id="5" name="Text 3"/>
          <p:cNvSpPr/>
          <p:nvPr/>
        </p:nvSpPr>
        <p:spPr>
          <a:xfrm>
            <a:off x="1097280" y="1417320"/>
            <a:ext cx="685800" cy="68580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6" name="Text 4"/>
          <p:cNvSpPr/>
          <p:nvPr/>
        </p:nvSpPr>
        <p:spPr>
          <a:xfrm>
            <a:off x="457200" y="2286000"/>
            <a:ext cx="1965960" cy="457200"/>
          </a:xfrm>
          <a:prstGeom prst="rect">
            <a:avLst/>
          </a:prstGeom>
          <a:noFill/>
          <a:ln/>
        </p:spPr>
        <p:txBody>
          <a:bodyPr wrap="square" rtlCol="0" anchor="ctr"/>
          <a:lstStyle/>
          <a:p>
            <a:pPr algn="ctr" indent="0" marL="0">
              <a:buNone/>
            </a:pPr>
            <a:r>
              <a:rPr lang="en-US" sz="1400" b="1" dirty="0">
                <a:solidFill>
                  <a:srgbClr val="1C213C"/>
                </a:solidFill>
                <a:latin typeface="Arial" pitchFamily="34" charset="0"/>
                <a:ea typeface="Arial" pitchFamily="34" charset="-122"/>
                <a:cs typeface="Arial" pitchFamily="34" charset="-120"/>
              </a:rPr>
              <a:t>Forman equipos</a:t>
            </a:r>
            <a:endParaRPr lang="en-US" sz="1400" dirty="0"/>
          </a:p>
        </p:txBody>
      </p:sp>
      <p:sp>
        <p:nvSpPr>
          <p:cNvPr id="7" name="Text 5"/>
          <p:cNvSpPr/>
          <p:nvPr/>
        </p:nvSpPr>
        <p:spPr>
          <a:xfrm>
            <a:off x="548640" y="2834640"/>
            <a:ext cx="1783080" cy="1554480"/>
          </a:xfrm>
          <a:prstGeom prst="rect">
            <a:avLst/>
          </a:prstGeom>
          <a:noFill/>
          <a:ln/>
        </p:spPr>
        <p:txBody>
          <a:bodyPr wrap="square" rtlCol="0" anchor="ctr"/>
          <a:lstStyle/>
          <a:p>
            <a:pPr algn="ctr" indent="0" marL="0">
              <a:buNone/>
            </a:pPr>
            <a:r>
              <a:rPr lang="en-US" sz="1100" dirty="0">
                <a:solidFill>
                  <a:srgbClr val="5A5F70"/>
                </a:solidFill>
                <a:latin typeface="Arial" pitchFamily="34" charset="0"/>
                <a:ea typeface="Arial" pitchFamily="34" charset="-122"/>
                <a:cs typeface="Arial" pitchFamily="34" charset="-120"/>
              </a:rPr>
              <a:t>4-5 estudiantes por empresa. Cada equipo recibe una empresa con su situación financiera.</a:t>
            </a:r>
            <a:endParaRPr lang="en-US" sz="1100" dirty="0"/>
          </a:p>
        </p:txBody>
      </p:sp>
      <p:sp>
        <p:nvSpPr>
          <p:cNvPr id="8" name="Shape 6"/>
          <p:cNvSpPr/>
          <p:nvPr/>
        </p:nvSpPr>
        <p:spPr>
          <a:xfrm>
            <a:off x="2606040" y="1188720"/>
            <a:ext cx="1965960" cy="3474720"/>
          </a:xfrm>
          <a:prstGeom prst="roundRect">
            <a:avLst>
              <a:gd name="adj" fmla="val 5581"/>
            </a:avLst>
          </a:prstGeom>
          <a:solidFill>
            <a:srgbClr val="FFFFFF"/>
          </a:solidFill>
          <a:ln/>
          <a:effectLst>
            <a:outerShdw sx="100000" sy="100000" kx="0" ky="0" algn="bl" rotWithShape="0" blurRad="101600" dist="38100" dir="2700000">
              <a:srgbClr val="000000">
                <a:alpha val="12000"/>
              </a:srgbClr>
            </a:outerShdw>
          </a:effectLst>
        </p:spPr>
      </p:sp>
      <p:sp>
        <p:nvSpPr>
          <p:cNvPr id="9" name="Shape 7"/>
          <p:cNvSpPr/>
          <p:nvPr/>
        </p:nvSpPr>
        <p:spPr>
          <a:xfrm>
            <a:off x="3246120" y="1417320"/>
            <a:ext cx="685800" cy="685800"/>
          </a:xfrm>
          <a:prstGeom prst="ellipse">
            <a:avLst/>
          </a:prstGeom>
          <a:solidFill>
            <a:srgbClr val="1C213C"/>
          </a:solidFill>
          <a:ln/>
        </p:spPr>
      </p:sp>
      <p:sp>
        <p:nvSpPr>
          <p:cNvPr id="10" name="Text 8"/>
          <p:cNvSpPr/>
          <p:nvPr/>
        </p:nvSpPr>
        <p:spPr>
          <a:xfrm>
            <a:off x="3246120" y="1417320"/>
            <a:ext cx="685800" cy="68580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1" name="Text 9"/>
          <p:cNvSpPr/>
          <p:nvPr/>
        </p:nvSpPr>
        <p:spPr>
          <a:xfrm>
            <a:off x="2606040" y="2286000"/>
            <a:ext cx="1965960" cy="457200"/>
          </a:xfrm>
          <a:prstGeom prst="rect">
            <a:avLst/>
          </a:prstGeom>
          <a:noFill/>
          <a:ln/>
        </p:spPr>
        <p:txBody>
          <a:bodyPr wrap="square" rtlCol="0" anchor="ctr"/>
          <a:lstStyle/>
          <a:p>
            <a:pPr algn="ctr" indent="0" marL="0">
              <a:buNone/>
            </a:pPr>
            <a:r>
              <a:rPr lang="en-US" sz="1400" b="1" dirty="0">
                <a:solidFill>
                  <a:srgbClr val="1C213C"/>
                </a:solidFill>
                <a:latin typeface="Arial" pitchFamily="34" charset="0"/>
                <a:ea typeface="Arial" pitchFamily="34" charset="-122"/>
                <a:cs typeface="Arial" pitchFamily="34" charset="-120"/>
              </a:rPr>
              <a:t>Toman decisiones</a:t>
            </a:r>
            <a:endParaRPr lang="en-US" sz="1400" dirty="0"/>
          </a:p>
        </p:txBody>
      </p:sp>
      <p:sp>
        <p:nvSpPr>
          <p:cNvPr id="12" name="Text 10"/>
          <p:cNvSpPr/>
          <p:nvPr/>
        </p:nvSpPr>
        <p:spPr>
          <a:xfrm>
            <a:off x="2697480" y="2834640"/>
            <a:ext cx="1783080" cy="1554480"/>
          </a:xfrm>
          <a:prstGeom prst="rect">
            <a:avLst/>
          </a:prstGeom>
          <a:noFill/>
          <a:ln/>
        </p:spPr>
        <p:txBody>
          <a:bodyPr wrap="square" rtlCol="0" anchor="ctr"/>
          <a:lstStyle/>
          <a:p>
            <a:pPr algn="ctr" indent="0" marL="0">
              <a:buNone/>
            </a:pPr>
            <a:r>
              <a:rPr lang="en-US" sz="1100" dirty="0">
                <a:solidFill>
                  <a:srgbClr val="5A5F70"/>
                </a:solidFill>
                <a:latin typeface="Arial" pitchFamily="34" charset="0"/>
                <a:ea typeface="Arial" pitchFamily="34" charset="-122"/>
                <a:cs typeface="Arial" pitchFamily="34" charset="-120"/>
              </a:rPr>
              <a:t>Cada ronda: precio, producción, I+D, marketing, RRHH. Todo en una interfaz web intuitiva.</a:t>
            </a:r>
            <a:endParaRPr lang="en-US" sz="1100" dirty="0"/>
          </a:p>
        </p:txBody>
      </p:sp>
      <p:sp>
        <p:nvSpPr>
          <p:cNvPr id="13" name="Shape 11"/>
          <p:cNvSpPr/>
          <p:nvPr/>
        </p:nvSpPr>
        <p:spPr>
          <a:xfrm>
            <a:off x="4754880" y="1188720"/>
            <a:ext cx="1965960" cy="3474720"/>
          </a:xfrm>
          <a:prstGeom prst="roundRect">
            <a:avLst>
              <a:gd name="adj" fmla="val 5581"/>
            </a:avLst>
          </a:prstGeom>
          <a:solidFill>
            <a:srgbClr val="FFFFFF"/>
          </a:solidFill>
          <a:ln/>
          <a:effectLst>
            <a:outerShdw sx="100000" sy="100000" kx="0" ky="0" algn="bl" rotWithShape="0" blurRad="101600" dist="38100" dir="2700000">
              <a:srgbClr val="000000">
                <a:alpha val="12000"/>
              </a:srgbClr>
            </a:outerShdw>
          </a:effectLst>
        </p:spPr>
      </p:sp>
      <p:sp>
        <p:nvSpPr>
          <p:cNvPr id="14" name="Shape 12"/>
          <p:cNvSpPr/>
          <p:nvPr/>
        </p:nvSpPr>
        <p:spPr>
          <a:xfrm>
            <a:off x="5394960" y="1417320"/>
            <a:ext cx="685800" cy="685800"/>
          </a:xfrm>
          <a:prstGeom prst="ellipse">
            <a:avLst/>
          </a:prstGeom>
          <a:solidFill>
            <a:srgbClr val="1C213C"/>
          </a:solidFill>
          <a:ln/>
        </p:spPr>
      </p:sp>
      <p:sp>
        <p:nvSpPr>
          <p:cNvPr id="15" name="Text 13"/>
          <p:cNvSpPr/>
          <p:nvPr/>
        </p:nvSpPr>
        <p:spPr>
          <a:xfrm>
            <a:off x="5394960" y="1417320"/>
            <a:ext cx="685800" cy="68580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6" name="Text 14"/>
          <p:cNvSpPr/>
          <p:nvPr/>
        </p:nvSpPr>
        <p:spPr>
          <a:xfrm>
            <a:off x="4754880" y="2286000"/>
            <a:ext cx="1965960" cy="457200"/>
          </a:xfrm>
          <a:prstGeom prst="rect">
            <a:avLst/>
          </a:prstGeom>
          <a:noFill/>
          <a:ln/>
        </p:spPr>
        <p:txBody>
          <a:bodyPr wrap="square" rtlCol="0" anchor="ctr"/>
          <a:lstStyle/>
          <a:p>
            <a:pPr algn="ctr" indent="0" marL="0">
              <a:buNone/>
            </a:pPr>
            <a:r>
              <a:rPr lang="en-US" sz="1400" b="1" dirty="0">
                <a:solidFill>
                  <a:srgbClr val="1C213C"/>
                </a:solidFill>
                <a:latin typeface="Arial" pitchFamily="34" charset="0"/>
                <a:ea typeface="Arial" pitchFamily="34" charset="-122"/>
                <a:cs typeface="Arial" pitchFamily="34" charset="-120"/>
              </a:rPr>
              <a:t>Compiten</a:t>
            </a:r>
            <a:endParaRPr lang="en-US" sz="1400" dirty="0"/>
          </a:p>
        </p:txBody>
      </p:sp>
      <p:sp>
        <p:nvSpPr>
          <p:cNvPr id="17" name="Text 15"/>
          <p:cNvSpPr/>
          <p:nvPr/>
        </p:nvSpPr>
        <p:spPr>
          <a:xfrm>
            <a:off x="4846320" y="2834640"/>
            <a:ext cx="1783080" cy="1554480"/>
          </a:xfrm>
          <a:prstGeom prst="rect">
            <a:avLst/>
          </a:prstGeom>
          <a:noFill/>
          <a:ln/>
        </p:spPr>
        <p:txBody>
          <a:bodyPr wrap="square" rtlCol="0" anchor="ctr"/>
          <a:lstStyle/>
          <a:p>
            <a:pPr algn="ctr" indent="0" marL="0">
              <a:buNone/>
            </a:pPr>
            <a:r>
              <a:rPr lang="en-US" sz="1100" dirty="0">
                <a:solidFill>
                  <a:srgbClr val="5A5F70"/>
                </a:solidFill>
                <a:latin typeface="Arial" pitchFamily="34" charset="0"/>
                <a:ea typeface="Arial" pitchFamily="34" charset="-122"/>
                <a:cs typeface="Arial" pitchFamily="34" charset="-120"/>
              </a:rPr>
              <a:t>El simulador procesa decisiones de TODOS los equipos y genera resultados de mercado.</a:t>
            </a:r>
            <a:endParaRPr lang="en-US" sz="1100" dirty="0"/>
          </a:p>
        </p:txBody>
      </p:sp>
      <p:sp>
        <p:nvSpPr>
          <p:cNvPr id="18" name="Shape 16"/>
          <p:cNvSpPr/>
          <p:nvPr/>
        </p:nvSpPr>
        <p:spPr>
          <a:xfrm>
            <a:off x="6903720" y="1188720"/>
            <a:ext cx="1965960" cy="3474720"/>
          </a:xfrm>
          <a:prstGeom prst="roundRect">
            <a:avLst>
              <a:gd name="adj" fmla="val 5581"/>
            </a:avLst>
          </a:prstGeom>
          <a:solidFill>
            <a:srgbClr val="FFFFFF"/>
          </a:solidFill>
          <a:ln/>
          <a:effectLst>
            <a:outerShdw sx="100000" sy="100000" kx="0" ky="0" algn="bl" rotWithShape="0" blurRad="101600" dist="38100" dir="2700000">
              <a:srgbClr val="000000">
                <a:alpha val="12000"/>
              </a:srgbClr>
            </a:outerShdw>
          </a:effectLst>
        </p:spPr>
      </p:sp>
      <p:sp>
        <p:nvSpPr>
          <p:cNvPr id="19" name="Shape 17"/>
          <p:cNvSpPr/>
          <p:nvPr/>
        </p:nvSpPr>
        <p:spPr>
          <a:xfrm>
            <a:off x="7543800" y="1417320"/>
            <a:ext cx="685800" cy="685800"/>
          </a:xfrm>
          <a:prstGeom prst="ellipse">
            <a:avLst/>
          </a:prstGeom>
          <a:solidFill>
            <a:srgbClr val="1C213C"/>
          </a:solidFill>
          <a:ln/>
        </p:spPr>
      </p:sp>
      <p:sp>
        <p:nvSpPr>
          <p:cNvPr id="20" name="Text 18"/>
          <p:cNvSpPr/>
          <p:nvPr/>
        </p:nvSpPr>
        <p:spPr>
          <a:xfrm>
            <a:off x="7543800" y="1417320"/>
            <a:ext cx="685800" cy="68580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1" name="Text 19"/>
          <p:cNvSpPr/>
          <p:nvPr/>
        </p:nvSpPr>
        <p:spPr>
          <a:xfrm>
            <a:off x="6903720" y="2286000"/>
            <a:ext cx="1965960" cy="457200"/>
          </a:xfrm>
          <a:prstGeom prst="rect">
            <a:avLst/>
          </a:prstGeom>
          <a:noFill/>
          <a:ln/>
        </p:spPr>
        <p:txBody>
          <a:bodyPr wrap="square" rtlCol="0" anchor="ctr"/>
          <a:lstStyle/>
          <a:p>
            <a:pPr algn="ctr" indent="0" marL="0">
              <a:buNone/>
            </a:pPr>
            <a:r>
              <a:rPr lang="en-US" sz="1400" b="1" dirty="0">
                <a:solidFill>
                  <a:srgbClr val="1C213C"/>
                </a:solidFill>
                <a:latin typeface="Arial" pitchFamily="34" charset="0"/>
                <a:ea typeface="Arial" pitchFamily="34" charset="-122"/>
                <a:cs typeface="Arial" pitchFamily="34" charset="-120"/>
              </a:rPr>
              <a:t>Presentan</a:t>
            </a:r>
            <a:endParaRPr lang="en-US" sz="1400" dirty="0"/>
          </a:p>
        </p:txBody>
      </p:sp>
      <p:sp>
        <p:nvSpPr>
          <p:cNvPr id="22" name="Text 20"/>
          <p:cNvSpPr/>
          <p:nvPr/>
        </p:nvSpPr>
        <p:spPr>
          <a:xfrm>
            <a:off x="6995160" y="2834640"/>
            <a:ext cx="1783080" cy="1554480"/>
          </a:xfrm>
          <a:prstGeom prst="rect">
            <a:avLst/>
          </a:prstGeom>
          <a:noFill/>
          <a:ln/>
        </p:spPr>
        <p:txBody>
          <a:bodyPr wrap="square" rtlCol="0" anchor="ctr"/>
          <a:lstStyle/>
          <a:p>
            <a:pPr algn="ctr" indent="0" marL="0">
              <a:buNone/>
            </a:pPr>
            <a:r>
              <a:rPr lang="en-US" sz="1100" dirty="0">
                <a:solidFill>
                  <a:srgbClr val="5A5F70"/>
                </a:solidFill>
                <a:latin typeface="Arial" pitchFamily="34" charset="0"/>
                <a:ea typeface="Arial" pitchFamily="34" charset="-122"/>
                <a:cs typeface="Arial" pitchFamily="34" charset="-120"/>
              </a:rPr>
              <a:t>Al final: cada equipo presenta su estrategia como un board meeting. El profesor evalúa.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¿Qué decisiones toman los estudiantes?</a:t>
            </a:r>
            <a:endParaRPr lang="en-US" sz="2800" dirty="0"/>
          </a:p>
        </p:txBody>
      </p:sp>
      <p:sp>
        <p:nvSpPr>
          <p:cNvPr id="3" name="Shape 1"/>
          <p:cNvSpPr/>
          <p:nvPr/>
        </p:nvSpPr>
        <p:spPr>
          <a:xfrm>
            <a:off x="640080" y="1188720"/>
            <a:ext cx="7863840" cy="658368"/>
          </a:xfrm>
          <a:prstGeom prst="roundRect">
            <a:avLst>
              <a:gd name="adj" fmla="val 11111"/>
            </a:avLst>
          </a:prstGeom>
          <a:solidFill>
            <a:srgbClr val="F5F7FA"/>
          </a:solidFill>
          <a:ln/>
        </p:spPr>
      </p:sp>
      <p:sp>
        <p:nvSpPr>
          <p:cNvPr id="4" name="Text 2"/>
          <p:cNvSpPr/>
          <p:nvPr/>
        </p:nvSpPr>
        <p:spPr>
          <a:xfrm>
            <a:off x="822960" y="1188720"/>
            <a:ext cx="1828800" cy="658368"/>
          </a:xfrm>
          <a:prstGeom prst="rect">
            <a:avLst/>
          </a:prstGeom>
          <a:noFill/>
          <a:ln/>
        </p:spPr>
        <p:txBody>
          <a:bodyPr wrap="square" rtlCol="0" anchor="ctr"/>
          <a:lstStyle/>
          <a:p>
            <a:pPr indent="0" marL="0">
              <a:buNone/>
            </a:pPr>
            <a:r>
              <a:rPr lang="en-US" sz="1400" b="1" dirty="0">
                <a:solidFill>
                  <a:srgbClr val="49C5B1"/>
                </a:solidFill>
                <a:latin typeface="Arial" pitchFamily="34" charset="0"/>
                <a:ea typeface="Arial" pitchFamily="34" charset="-122"/>
                <a:cs typeface="Arial" pitchFamily="34" charset="-120"/>
              </a:rPr>
              <a:t>Mercadeo</a:t>
            </a:r>
            <a:endParaRPr lang="en-US" sz="1400" dirty="0"/>
          </a:p>
        </p:txBody>
      </p:sp>
      <p:sp>
        <p:nvSpPr>
          <p:cNvPr id="5" name="Text 3"/>
          <p:cNvSpPr/>
          <p:nvPr/>
        </p:nvSpPr>
        <p:spPr>
          <a:xfrm>
            <a:off x="2743200" y="1188720"/>
            <a:ext cx="5486400" cy="658368"/>
          </a:xfrm>
          <a:prstGeom prst="rect">
            <a:avLst/>
          </a:prstGeom>
          <a:noFill/>
          <a:ln/>
        </p:spPr>
        <p:txBody>
          <a:bodyPr wrap="square" rtlCol="0" anchor="ctr"/>
          <a:lstStyle/>
          <a:p>
            <a:pPr indent="0" marL="0">
              <a:buNone/>
            </a:pPr>
            <a:r>
              <a:rPr lang="en-US" sz="1200" dirty="0">
                <a:solidFill>
                  <a:srgbClr val="1C213C"/>
                </a:solidFill>
                <a:latin typeface="Arial" pitchFamily="34" charset="0"/>
                <a:ea typeface="Arial" pitchFamily="34" charset="-122"/>
                <a:cs typeface="Arial" pitchFamily="34" charset="-120"/>
              </a:rPr>
              <a:t>Precio de venta, inversión publicitaria, canales de distribución, posicionamiento.</a:t>
            </a:r>
            <a:endParaRPr lang="en-US" sz="1200" dirty="0"/>
          </a:p>
        </p:txBody>
      </p:sp>
      <p:sp>
        <p:nvSpPr>
          <p:cNvPr id="6" name="Shape 4"/>
          <p:cNvSpPr/>
          <p:nvPr/>
        </p:nvSpPr>
        <p:spPr>
          <a:xfrm>
            <a:off x="640080" y="1938528"/>
            <a:ext cx="7863840" cy="658368"/>
          </a:xfrm>
          <a:prstGeom prst="roundRect">
            <a:avLst>
              <a:gd name="adj" fmla="val 11111"/>
            </a:avLst>
          </a:prstGeom>
          <a:solidFill>
            <a:srgbClr val="FFFFFF"/>
          </a:solidFill>
          <a:ln/>
        </p:spPr>
      </p:sp>
      <p:sp>
        <p:nvSpPr>
          <p:cNvPr id="7" name="Text 5"/>
          <p:cNvSpPr/>
          <p:nvPr/>
        </p:nvSpPr>
        <p:spPr>
          <a:xfrm>
            <a:off x="822960" y="1938528"/>
            <a:ext cx="1828800" cy="658368"/>
          </a:xfrm>
          <a:prstGeom prst="rect">
            <a:avLst/>
          </a:prstGeom>
          <a:noFill/>
          <a:ln/>
        </p:spPr>
        <p:txBody>
          <a:bodyPr wrap="square" rtlCol="0" anchor="ctr"/>
          <a:lstStyle/>
          <a:p>
            <a:pPr indent="0" marL="0">
              <a:buNone/>
            </a:pPr>
            <a:r>
              <a:rPr lang="en-US" sz="1400" b="1" dirty="0">
                <a:solidFill>
                  <a:srgbClr val="49C5B1"/>
                </a:solidFill>
                <a:latin typeface="Arial" pitchFamily="34" charset="0"/>
                <a:ea typeface="Arial" pitchFamily="34" charset="-122"/>
                <a:cs typeface="Arial" pitchFamily="34" charset="-120"/>
              </a:rPr>
              <a:t>Producción</a:t>
            </a:r>
            <a:endParaRPr lang="en-US" sz="1400" dirty="0"/>
          </a:p>
        </p:txBody>
      </p:sp>
      <p:sp>
        <p:nvSpPr>
          <p:cNvPr id="8" name="Text 6"/>
          <p:cNvSpPr/>
          <p:nvPr/>
        </p:nvSpPr>
        <p:spPr>
          <a:xfrm>
            <a:off x="2743200" y="1938528"/>
            <a:ext cx="5486400" cy="658368"/>
          </a:xfrm>
          <a:prstGeom prst="rect">
            <a:avLst/>
          </a:prstGeom>
          <a:noFill/>
          <a:ln/>
        </p:spPr>
        <p:txBody>
          <a:bodyPr wrap="square" rtlCol="0" anchor="ctr"/>
          <a:lstStyle/>
          <a:p>
            <a:pPr indent="0" marL="0">
              <a:buNone/>
            </a:pPr>
            <a:r>
              <a:rPr lang="en-US" sz="1200" dirty="0">
                <a:solidFill>
                  <a:srgbClr val="1C213C"/>
                </a:solidFill>
                <a:latin typeface="Arial" pitchFamily="34" charset="0"/>
                <a:ea typeface="Arial" pitchFamily="34" charset="-122"/>
                <a:cs typeface="Arial" pitchFamily="34" charset="-120"/>
              </a:rPr>
              <a:t>Volumen de producción, capacidad de planta, control de calidad, inventarios.</a:t>
            </a:r>
            <a:endParaRPr lang="en-US" sz="1200" dirty="0"/>
          </a:p>
        </p:txBody>
      </p:sp>
      <p:sp>
        <p:nvSpPr>
          <p:cNvPr id="9" name="Shape 7"/>
          <p:cNvSpPr/>
          <p:nvPr/>
        </p:nvSpPr>
        <p:spPr>
          <a:xfrm>
            <a:off x="640080" y="2688336"/>
            <a:ext cx="7863840" cy="658368"/>
          </a:xfrm>
          <a:prstGeom prst="roundRect">
            <a:avLst>
              <a:gd name="adj" fmla="val 11111"/>
            </a:avLst>
          </a:prstGeom>
          <a:solidFill>
            <a:srgbClr val="F5F7FA"/>
          </a:solidFill>
          <a:ln/>
        </p:spPr>
      </p:sp>
      <p:sp>
        <p:nvSpPr>
          <p:cNvPr id="10" name="Text 8"/>
          <p:cNvSpPr/>
          <p:nvPr/>
        </p:nvSpPr>
        <p:spPr>
          <a:xfrm>
            <a:off x="822960" y="2688336"/>
            <a:ext cx="1828800" cy="658368"/>
          </a:xfrm>
          <a:prstGeom prst="rect">
            <a:avLst/>
          </a:prstGeom>
          <a:noFill/>
          <a:ln/>
        </p:spPr>
        <p:txBody>
          <a:bodyPr wrap="square" rtlCol="0" anchor="ctr"/>
          <a:lstStyle/>
          <a:p>
            <a:pPr indent="0" marL="0">
              <a:buNone/>
            </a:pPr>
            <a:r>
              <a:rPr lang="en-US" sz="1400" b="1" dirty="0">
                <a:solidFill>
                  <a:srgbClr val="49C5B1"/>
                </a:solidFill>
                <a:latin typeface="Arial" pitchFamily="34" charset="0"/>
                <a:ea typeface="Arial" pitchFamily="34" charset="-122"/>
                <a:cs typeface="Arial" pitchFamily="34" charset="-120"/>
              </a:rPr>
              <a:t>Finanzas</a:t>
            </a:r>
            <a:endParaRPr lang="en-US" sz="1400" dirty="0"/>
          </a:p>
        </p:txBody>
      </p:sp>
      <p:sp>
        <p:nvSpPr>
          <p:cNvPr id="11" name="Text 9"/>
          <p:cNvSpPr/>
          <p:nvPr/>
        </p:nvSpPr>
        <p:spPr>
          <a:xfrm>
            <a:off x="2743200" y="2688336"/>
            <a:ext cx="5486400" cy="658368"/>
          </a:xfrm>
          <a:prstGeom prst="rect">
            <a:avLst/>
          </a:prstGeom>
          <a:noFill/>
          <a:ln/>
        </p:spPr>
        <p:txBody>
          <a:bodyPr wrap="square" rtlCol="0" anchor="ctr"/>
          <a:lstStyle/>
          <a:p>
            <a:pPr indent="0" marL="0">
              <a:buNone/>
            </a:pPr>
            <a:r>
              <a:rPr lang="en-US" sz="1200" dirty="0">
                <a:solidFill>
                  <a:srgbClr val="1C213C"/>
                </a:solidFill>
                <a:latin typeface="Arial" pitchFamily="34" charset="0"/>
                <a:ea typeface="Arial" pitchFamily="34" charset="-122"/>
                <a:cs typeface="Arial" pitchFamily="34" charset="-120"/>
              </a:rPr>
              <a:t>Inversión en I+D, créditos bancarios, dividendos, flujo de caja.</a:t>
            </a:r>
            <a:endParaRPr lang="en-US" sz="1200" dirty="0"/>
          </a:p>
        </p:txBody>
      </p:sp>
      <p:sp>
        <p:nvSpPr>
          <p:cNvPr id="12" name="Shape 10"/>
          <p:cNvSpPr/>
          <p:nvPr/>
        </p:nvSpPr>
        <p:spPr>
          <a:xfrm>
            <a:off x="640080" y="3438144"/>
            <a:ext cx="7863840" cy="658368"/>
          </a:xfrm>
          <a:prstGeom prst="roundRect">
            <a:avLst>
              <a:gd name="adj" fmla="val 11111"/>
            </a:avLst>
          </a:prstGeom>
          <a:solidFill>
            <a:srgbClr val="FFFFFF"/>
          </a:solidFill>
          <a:ln/>
        </p:spPr>
      </p:sp>
      <p:sp>
        <p:nvSpPr>
          <p:cNvPr id="13" name="Text 11"/>
          <p:cNvSpPr/>
          <p:nvPr/>
        </p:nvSpPr>
        <p:spPr>
          <a:xfrm>
            <a:off x="822960" y="3438144"/>
            <a:ext cx="1828800" cy="658368"/>
          </a:xfrm>
          <a:prstGeom prst="rect">
            <a:avLst/>
          </a:prstGeom>
          <a:noFill/>
          <a:ln/>
        </p:spPr>
        <p:txBody>
          <a:bodyPr wrap="square" rtlCol="0" anchor="ctr"/>
          <a:lstStyle/>
          <a:p>
            <a:pPr indent="0" marL="0">
              <a:buNone/>
            </a:pPr>
            <a:r>
              <a:rPr lang="en-US" sz="1400" b="1" dirty="0">
                <a:solidFill>
                  <a:srgbClr val="49C5B1"/>
                </a:solidFill>
                <a:latin typeface="Arial" pitchFamily="34" charset="0"/>
                <a:ea typeface="Arial" pitchFamily="34" charset="-122"/>
                <a:cs typeface="Arial" pitchFamily="34" charset="-120"/>
              </a:rPr>
              <a:t>Recursos Humanos</a:t>
            </a:r>
            <a:endParaRPr lang="en-US" sz="1400" dirty="0"/>
          </a:p>
        </p:txBody>
      </p:sp>
      <p:sp>
        <p:nvSpPr>
          <p:cNvPr id="14" name="Text 12"/>
          <p:cNvSpPr/>
          <p:nvPr/>
        </p:nvSpPr>
        <p:spPr>
          <a:xfrm>
            <a:off x="2743200" y="3438144"/>
            <a:ext cx="5486400" cy="658368"/>
          </a:xfrm>
          <a:prstGeom prst="rect">
            <a:avLst/>
          </a:prstGeom>
          <a:noFill/>
          <a:ln/>
        </p:spPr>
        <p:txBody>
          <a:bodyPr wrap="square" rtlCol="0" anchor="ctr"/>
          <a:lstStyle/>
          <a:p>
            <a:pPr indent="0" marL="0">
              <a:buNone/>
            </a:pPr>
            <a:r>
              <a:rPr lang="en-US" sz="1200" dirty="0">
                <a:solidFill>
                  <a:srgbClr val="1C213C"/>
                </a:solidFill>
                <a:latin typeface="Arial" pitchFamily="34" charset="0"/>
                <a:ea typeface="Arial" pitchFamily="34" charset="-122"/>
                <a:cs typeface="Arial" pitchFamily="34" charset="-120"/>
              </a:rPr>
              <a:t>Contratación, salarios, capacitación, bienestar laboral.</a:t>
            </a:r>
            <a:endParaRPr lang="en-US" sz="1200" dirty="0"/>
          </a:p>
        </p:txBody>
      </p:sp>
      <p:sp>
        <p:nvSpPr>
          <p:cNvPr id="15" name="Shape 13"/>
          <p:cNvSpPr/>
          <p:nvPr/>
        </p:nvSpPr>
        <p:spPr>
          <a:xfrm>
            <a:off x="640080" y="4187952"/>
            <a:ext cx="7863840" cy="658368"/>
          </a:xfrm>
          <a:prstGeom prst="roundRect">
            <a:avLst>
              <a:gd name="adj" fmla="val 11111"/>
            </a:avLst>
          </a:prstGeom>
          <a:solidFill>
            <a:srgbClr val="F5F7FA"/>
          </a:solidFill>
          <a:ln/>
        </p:spPr>
      </p:sp>
      <p:sp>
        <p:nvSpPr>
          <p:cNvPr id="16" name="Text 14"/>
          <p:cNvSpPr/>
          <p:nvPr/>
        </p:nvSpPr>
        <p:spPr>
          <a:xfrm>
            <a:off x="822960" y="4187952"/>
            <a:ext cx="1828800" cy="658368"/>
          </a:xfrm>
          <a:prstGeom prst="rect">
            <a:avLst/>
          </a:prstGeom>
          <a:noFill/>
          <a:ln/>
        </p:spPr>
        <p:txBody>
          <a:bodyPr wrap="square" rtlCol="0" anchor="ctr"/>
          <a:lstStyle/>
          <a:p>
            <a:pPr indent="0" marL="0">
              <a:buNone/>
            </a:pPr>
            <a:r>
              <a:rPr lang="en-US" sz="1400" b="1" dirty="0">
                <a:solidFill>
                  <a:srgbClr val="49C5B1"/>
                </a:solidFill>
                <a:latin typeface="Arial" pitchFamily="34" charset="0"/>
                <a:ea typeface="Arial" pitchFamily="34" charset="-122"/>
                <a:cs typeface="Arial" pitchFamily="34" charset="-120"/>
              </a:rPr>
              <a:t>Estrategia</a:t>
            </a:r>
            <a:endParaRPr lang="en-US" sz="1400" dirty="0"/>
          </a:p>
        </p:txBody>
      </p:sp>
      <p:sp>
        <p:nvSpPr>
          <p:cNvPr id="17" name="Text 15"/>
          <p:cNvSpPr/>
          <p:nvPr/>
        </p:nvSpPr>
        <p:spPr>
          <a:xfrm>
            <a:off x="2743200" y="4187952"/>
            <a:ext cx="5486400" cy="658368"/>
          </a:xfrm>
          <a:prstGeom prst="rect">
            <a:avLst/>
          </a:prstGeom>
          <a:noFill/>
          <a:ln/>
        </p:spPr>
        <p:txBody>
          <a:bodyPr wrap="square" rtlCol="0" anchor="ctr"/>
          <a:lstStyle/>
          <a:p>
            <a:pPr indent="0" marL="0">
              <a:buNone/>
            </a:pPr>
            <a:r>
              <a:rPr lang="en-US" sz="1200" dirty="0">
                <a:solidFill>
                  <a:srgbClr val="1C213C"/>
                </a:solidFill>
                <a:latin typeface="Arial" pitchFamily="34" charset="0"/>
                <a:ea typeface="Arial" pitchFamily="34" charset="-122"/>
                <a:cs typeface="Arial" pitchFamily="34" charset="-120"/>
              </a:rPr>
              <a:t>Segmento de mercado, diferenciación vs costo, expansión, alianzas.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Competencias que desarrolla el simulador</a:t>
            </a:r>
            <a:endParaRPr lang="en-US" sz="2800" dirty="0"/>
          </a:p>
        </p:txBody>
      </p:sp>
      <p:pic>
        <p:nvPicPr>
          <p:cNvPr id="3" name="Image 0" descr="preencoded.png">    </p:cNvPr>
          <p:cNvPicPr>
            <a:picLocks noChangeAspect="1"/>
          </p:cNvPicPr>
          <p:nvPr/>
        </p:nvPicPr>
        <p:blipFill>
          <a:blip r:embed="rId1"/>
          <a:stretch>
            <a:fillRect/>
          </a:stretch>
        </p:blipFill>
        <p:spPr>
          <a:xfrm>
            <a:off x="822960" y="1280160"/>
            <a:ext cx="274320" cy="274320"/>
          </a:xfrm>
          <a:prstGeom prst="rect">
            <a:avLst/>
          </a:prstGeom>
        </p:spPr>
      </p:pic>
      <p:sp>
        <p:nvSpPr>
          <p:cNvPr id="4" name="Text 1"/>
          <p:cNvSpPr/>
          <p:nvPr/>
        </p:nvSpPr>
        <p:spPr>
          <a:xfrm>
            <a:off x="1280160" y="118872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Pensamiento estratégico</a:t>
            </a:r>
            <a:endParaRPr lang="en-US" sz="1300" dirty="0"/>
          </a:p>
        </p:txBody>
      </p:sp>
      <p:sp>
        <p:nvSpPr>
          <p:cNvPr id="5" name="Text 2"/>
          <p:cNvSpPr/>
          <p:nvPr/>
        </p:nvSpPr>
        <p:spPr>
          <a:xfrm>
            <a:off x="3931920" y="1188720"/>
            <a:ext cx="4572000" cy="45720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Analizar el entorno, definir una estrategia y ejecutarla con recursos limitados.</a:t>
            </a:r>
            <a:endParaRPr lang="en-US" sz="1100" dirty="0"/>
          </a:p>
        </p:txBody>
      </p:sp>
      <p:pic>
        <p:nvPicPr>
          <p:cNvPr id="6" name="Image 1" descr="preencoded.png">    </p:cNvPr>
          <p:cNvPicPr>
            <a:picLocks noChangeAspect="1"/>
          </p:cNvPicPr>
          <p:nvPr/>
        </p:nvPicPr>
        <p:blipFill>
          <a:blip r:embed="rId2"/>
          <a:stretch>
            <a:fillRect/>
          </a:stretch>
        </p:blipFill>
        <p:spPr>
          <a:xfrm>
            <a:off x="822960" y="1920240"/>
            <a:ext cx="274320" cy="274320"/>
          </a:xfrm>
          <a:prstGeom prst="rect">
            <a:avLst/>
          </a:prstGeom>
        </p:spPr>
      </p:pic>
      <p:sp>
        <p:nvSpPr>
          <p:cNvPr id="7" name="Text 3"/>
          <p:cNvSpPr/>
          <p:nvPr/>
        </p:nvSpPr>
        <p:spPr>
          <a:xfrm>
            <a:off x="1280160" y="182880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Toma de decisiones bajo incertidumbre</a:t>
            </a:r>
            <a:endParaRPr lang="en-US" sz="1300" dirty="0"/>
          </a:p>
        </p:txBody>
      </p:sp>
      <p:sp>
        <p:nvSpPr>
          <p:cNvPr id="8" name="Text 4"/>
          <p:cNvSpPr/>
          <p:nvPr/>
        </p:nvSpPr>
        <p:spPr>
          <a:xfrm>
            <a:off x="3931920" y="1828800"/>
            <a:ext cx="4572000" cy="45720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Decidir con información incompleta y asumir consecuencias.</a:t>
            </a:r>
            <a:endParaRPr lang="en-US" sz="1100" dirty="0"/>
          </a:p>
        </p:txBody>
      </p:sp>
      <p:pic>
        <p:nvPicPr>
          <p:cNvPr id="9" name="Image 2" descr="preencoded.png">    </p:cNvPr>
          <p:cNvPicPr>
            <a:picLocks noChangeAspect="1"/>
          </p:cNvPicPr>
          <p:nvPr/>
        </p:nvPicPr>
        <p:blipFill>
          <a:blip r:embed="rId3"/>
          <a:stretch>
            <a:fillRect/>
          </a:stretch>
        </p:blipFill>
        <p:spPr>
          <a:xfrm>
            <a:off x="822960" y="2560320"/>
            <a:ext cx="274320" cy="274320"/>
          </a:xfrm>
          <a:prstGeom prst="rect">
            <a:avLst/>
          </a:prstGeom>
        </p:spPr>
      </p:pic>
      <p:sp>
        <p:nvSpPr>
          <p:cNvPr id="10" name="Text 5"/>
          <p:cNvSpPr/>
          <p:nvPr/>
        </p:nvSpPr>
        <p:spPr>
          <a:xfrm>
            <a:off x="1280160" y="246888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Trabajo en equipo</a:t>
            </a:r>
            <a:endParaRPr lang="en-US" sz="1300" dirty="0"/>
          </a:p>
        </p:txBody>
      </p:sp>
      <p:sp>
        <p:nvSpPr>
          <p:cNvPr id="11" name="Text 6"/>
          <p:cNvSpPr/>
          <p:nvPr/>
        </p:nvSpPr>
        <p:spPr>
          <a:xfrm>
            <a:off x="3931920" y="2468880"/>
            <a:ext cx="4572000" cy="45720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Negociar, delegar y alinear al equipo en cada ronda de decisiones.</a:t>
            </a:r>
            <a:endParaRPr lang="en-US" sz="1100" dirty="0"/>
          </a:p>
        </p:txBody>
      </p:sp>
      <p:pic>
        <p:nvPicPr>
          <p:cNvPr id="12" name="Image 3" descr="preencoded.png">    </p:cNvPr>
          <p:cNvPicPr>
            <a:picLocks noChangeAspect="1"/>
          </p:cNvPicPr>
          <p:nvPr/>
        </p:nvPicPr>
        <p:blipFill>
          <a:blip r:embed="rId4"/>
          <a:stretch>
            <a:fillRect/>
          </a:stretch>
        </p:blipFill>
        <p:spPr>
          <a:xfrm>
            <a:off x="822960" y="3200400"/>
            <a:ext cx="274320" cy="274320"/>
          </a:xfrm>
          <a:prstGeom prst="rect">
            <a:avLst/>
          </a:prstGeom>
        </p:spPr>
      </p:pic>
      <p:sp>
        <p:nvSpPr>
          <p:cNvPr id="13" name="Text 7"/>
          <p:cNvSpPr/>
          <p:nvPr/>
        </p:nvSpPr>
        <p:spPr>
          <a:xfrm>
            <a:off x="1280160" y="310896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Análisis financiero</a:t>
            </a:r>
            <a:endParaRPr lang="en-US" sz="1300" dirty="0"/>
          </a:p>
        </p:txBody>
      </p:sp>
      <p:sp>
        <p:nvSpPr>
          <p:cNvPr id="14" name="Text 8"/>
          <p:cNvSpPr/>
          <p:nvPr/>
        </p:nvSpPr>
        <p:spPr>
          <a:xfrm>
            <a:off x="3931920" y="3108960"/>
            <a:ext cx="4572000" cy="45720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Leer estados financieros, interpretar indicadores y gestionar flujo de caja.</a:t>
            </a:r>
            <a:endParaRPr lang="en-US" sz="1100" dirty="0"/>
          </a:p>
        </p:txBody>
      </p:sp>
      <p:pic>
        <p:nvPicPr>
          <p:cNvPr id="15" name="Image 4" descr="preencoded.png">    </p:cNvPr>
          <p:cNvPicPr>
            <a:picLocks noChangeAspect="1"/>
          </p:cNvPicPr>
          <p:nvPr/>
        </p:nvPicPr>
        <p:blipFill>
          <a:blip r:embed="rId5"/>
          <a:stretch>
            <a:fillRect/>
          </a:stretch>
        </p:blipFill>
        <p:spPr>
          <a:xfrm>
            <a:off x="822960" y="3840480"/>
            <a:ext cx="274320" cy="274320"/>
          </a:xfrm>
          <a:prstGeom prst="rect">
            <a:avLst/>
          </a:prstGeom>
        </p:spPr>
      </p:pic>
      <p:sp>
        <p:nvSpPr>
          <p:cNvPr id="16" name="Text 9"/>
          <p:cNvSpPr/>
          <p:nvPr/>
        </p:nvSpPr>
        <p:spPr>
          <a:xfrm>
            <a:off x="1280160" y="374904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Pensamiento sistémico</a:t>
            </a:r>
            <a:endParaRPr lang="en-US" sz="1300" dirty="0"/>
          </a:p>
        </p:txBody>
      </p:sp>
      <p:sp>
        <p:nvSpPr>
          <p:cNvPr id="17" name="Text 10"/>
          <p:cNvSpPr/>
          <p:nvPr/>
        </p:nvSpPr>
        <p:spPr>
          <a:xfrm>
            <a:off x="3931920" y="3749040"/>
            <a:ext cx="4572000" cy="45720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Entender cómo una decisión en mercadeo afecta finanzas, producción y RRHH.</a:t>
            </a:r>
            <a:endParaRPr lang="en-US" sz="1100" dirty="0"/>
          </a:p>
        </p:txBody>
      </p:sp>
      <p:pic>
        <p:nvPicPr>
          <p:cNvPr id="18" name="Image 5" descr="preencoded.png">    </p:cNvPr>
          <p:cNvPicPr>
            <a:picLocks noChangeAspect="1"/>
          </p:cNvPicPr>
          <p:nvPr/>
        </p:nvPicPr>
        <p:blipFill>
          <a:blip r:embed="rId6"/>
          <a:stretch>
            <a:fillRect/>
          </a:stretch>
        </p:blipFill>
        <p:spPr>
          <a:xfrm>
            <a:off x="822960" y="4480560"/>
            <a:ext cx="274320" cy="274320"/>
          </a:xfrm>
          <a:prstGeom prst="rect">
            <a:avLst/>
          </a:prstGeom>
        </p:spPr>
      </p:pic>
      <p:sp>
        <p:nvSpPr>
          <p:cNvPr id="19" name="Text 11"/>
          <p:cNvSpPr/>
          <p:nvPr/>
        </p:nvSpPr>
        <p:spPr>
          <a:xfrm>
            <a:off x="1280160" y="4389120"/>
            <a:ext cx="2560320" cy="36576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Competitividad y adaptación</a:t>
            </a:r>
            <a:endParaRPr lang="en-US" sz="1300" dirty="0"/>
          </a:p>
        </p:txBody>
      </p:sp>
      <p:sp>
        <p:nvSpPr>
          <p:cNvPr id="20" name="Text 12"/>
          <p:cNvSpPr/>
          <p:nvPr/>
        </p:nvSpPr>
        <p:spPr>
          <a:xfrm>
            <a:off x="3931920" y="4389120"/>
            <a:ext cx="4572000" cy="457200"/>
          </a:xfrm>
          <a:prstGeom prst="rect">
            <a:avLst/>
          </a:prstGeom>
          <a:noFill/>
          <a:ln/>
        </p:spPr>
        <p:txBody>
          <a:bodyPr wrap="square" lIns="0" tIns="0" rIns="0" bIns="0" rtlCol="0" anchor="ctr"/>
          <a:lstStyle/>
          <a:p>
            <a:pPr indent="0" marL="0">
              <a:buNone/>
            </a:pPr>
            <a:r>
              <a:rPr lang="en-US" sz="1100" dirty="0">
                <a:solidFill>
                  <a:srgbClr val="5A5F70"/>
                </a:solidFill>
                <a:latin typeface="Arial" pitchFamily="34" charset="0"/>
                <a:ea typeface="Arial" pitchFamily="34" charset="-122"/>
                <a:cs typeface="Arial" pitchFamily="34" charset="-120"/>
              </a:rPr>
              <a:t>Reaccionar ante las acciones de la competencia y ajustar la estrategia.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Lo que ve el profesor: dashboard completo</a:t>
            </a:r>
            <a:endParaRPr lang="en-US" sz="2800" dirty="0"/>
          </a:p>
        </p:txBody>
      </p:sp>
      <p:sp>
        <p:nvSpPr>
          <p:cNvPr id="3" name="Shape 1"/>
          <p:cNvSpPr/>
          <p:nvPr/>
        </p:nvSpPr>
        <p:spPr>
          <a:xfrm>
            <a:off x="640080" y="1188720"/>
            <a:ext cx="7863840" cy="658368"/>
          </a:xfrm>
          <a:prstGeom prst="roundRect">
            <a:avLst>
              <a:gd name="adj" fmla="val 11111"/>
            </a:avLst>
          </a:prstGeom>
          <a:solidFill>
            <a:srgbClr val="F5F7FA"/>
          </a:solidFill>
          <a:ln/>
        </p:spPr>
      </p:sp>
      <p:pic>
        <p:nvPicPr>
          <p:cNvPr id="4" name="Image 0" descr="preencoded.png">    </p:cNvPr>
          <p:cNvPicPr>
            <a:picLocks noChangeAspect="1"/>
          </p:cNvPicPr>
          <p:nvPr/>
        </p:nvPicPr>
        <p:blipFill>
          <a:blip r:embed="rId1"/>
          <a:stretch>
            <a:fillRect/>
          </a:stretch>
        </p:blipFill>
        <p:spPr>
          <a:xfrm>
            <a:off x="822960" y="1325880"/>
            <a:ext cx="320040" cy="320040"/>
          </a:xfrm>
          <a:prstGeom prst="rect">
            <a:avLst/>
          </a:prstGeom>
        </p:spPr>
      </p:pic>
      <p:sp>
        <p:nvSpPr>
          <p:cNvPr id="5" name="Text 2"/>
          <p:cNvSpPr/>
          <p:nvPr/>
        </p:nvSpPr>
        <p:spPr>
          <a:xfrm>
            <a:off x="1371600" y="1188720"/>
            <a:ext cx="2286000" cy="658368"/>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Ranking en tiempo real</a:t>
            </a:r>
            <a:endParaRPr lang="en-US" sz="1300" dirty="0"/>
          </a:p>
        </p:txBody>
      </p:sp>
      <p:sp>
        <p:nvSpPr>
          <p:cNvPr id="6" name="Text 3"/>
          <p:cNvSpPr/>
          <p:nvPr/>
        </p:nvSpPr>
        <p:spPr>
          <a:xfrm>
            <a:off x="3749040" y="1188720"/>
            <a:ext cx="4572000" cy="658368"/>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Quién lidera, quién mejora, quién necesita ayuda. Visible para todos o solo para el profesor.</a:t>
            </a:r>
            <a:endParaRPr lang="en-US" sz="1100" dirty="0"/>
          </a:p>
        </p:txBody>
      </p:sp>
      <p:sp>
        <p:nvSpPr>
          <p:cNvPr id="7" name="Shape 4"/>
          <p:cNvSpPr/>
          <p:nvPr/>
        </p:nvSpPr>
        <p:spPr>
          <a:xfrm>
            <a:off x="640080" y="1938528"/>
            <a:ext cx="7863840" cy="658368"/>
          </a:xfrm>
          <a:prstGeom prst="roundRect">
            <a:avLst>
              <a:gd name="adj" fmla="val 11111"/>
            </a:avLst>
          </a:prstGeom>
          <a:solidFill>
            <a:srgbClr val="FFFFFF"/>
          </a:solidFill>
          <a:ln/>
        </p:spPr>
      </p:sp>
      <p:pic>
        <p:nvPicPr>
          <p:cNvPr id="8" name="Image 1" descr="preencoded.png">    </p:cNvPr>
          <p:cNvPicPr>
            <a:picLocks noChangeAspect="1"/>
          </p:cNvPicPr>
          <p:nvPr/>
        </p:nvPicPr>
        <p:blipFill>
          <a:blip r:embed="rId2"/>
          <a:stretch>
            <a:fillRect/>
          </a:stretch>
        </p:blipFill>
        <p:spPr>
          <a:xfrm>
            <a:off x="822960" y="2075688"/>
            <a:ext cx="320040" cy="320040"/>
          </a:xfrm>
          <a:prstGeom prst="rect">
            <a:avLst/>
          </a:prstGeom>
        </p:spPr>
      </p:pic>
      <p:sp>
        <p:nvSpPr>
          <p:cNvPr id="9" name="Text 5"/>
          <p:cNvSpPr/>
          <p:nvPr/>
        </p:nvSpPr>
        <p:spPr>
          <a:xfrm>
            <a:off x="1371600" y="1938528"/>
            <a:ext cx="2286000" cy="658368"/>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Decisiones por equipo y ronda</a:t>
            </a:r>
            <a:endParaRPr lang="en-US" sz="1300" dirty="0"/>
          </a:p>
        </p:txBody>
      </p:sp>
      <p:sp>
        <p:nvSpPr>
          <p:cNvPr id="10" name="Text 6"/>
          <p:cNvSpPr/>
          <p:nvPr/>
        </p:nvSpPr>
        <p:spPr>
          <a:xfrm>
            <a:off x="3749040" y="1938528"/>
            <a:ext cx="4572000" cy="658368"/>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Qué decidió cada equipo: material perfecto para la discusión post-ronda en clase.</a:t>
            </a:r>
            <a:endParaRPr lang="en-US" sz="1100" dirty="0"/>
          </a:p>
        </p:txBody>
      </p:sp>
      <p:sp>
        <p:nvSpPr>
          <p:cNvPr id="11" name="Shape 7"/>
          <p:cNvSpPr/>
          <p:nvPr/>
        </p:nvSpPr>
        <p:spPr>
          <a:xfrm>
            <a:off x="640080" y="2688336"/>
            <a:ext cx="7863840" cy="658368"/>
          </a:xfrm>
          <a:prstGeom prst="roundRect">
            <a:avLst>
              <a:gd name="adj" fmla="val 11111"/>
            </a:avLst>
          </a:prstGeom>
          <a:solidFill>
            <a:srgbClr val="F5F7FA"/>
          </a:solidFill>
          <a:ln/>
        </p:spPr>
      </p:sp>
      <p:pic>
        <p:nvPicPr>
          <p:cNvPr id="12" name="Image 2" descr="preencoded.png">    </p:cNvPr>
          <p:cNvPicPr>
            <a:picLocks noChangeAspect="1"/>
          </p:cNvPicPr>
          <p:nvPr/>
        </p:nvPicPr>
        <p:blipFill>
          <a:blip r:embed="rId3"/>
          <a:stretch>
            <a:fillRect/>
          </a:stretch>
        </p:blipFill>
        <p:spPr>
          <a:xfrm>
            <a:off x="822960" y="2825496"/>
            <a:ext cx="320040" cy="320040"/>
          </a:xfrm>
          <a:prstGeom prst="rect">
            <a:avLst/>
          </a:prstGeom>
        </p:spPr>
      </p:pic>
      <p:sp>
        <p:nvSpPr>
          <p:cNvPr id="13" name="Text 8"/>
          <p:cNvSpPr/>
          <p:nvPr/>
        </p:nvSpPr>
        <p:spPr>
          <a:xfrm>
            <a:off x="1371600" y="2688336"/>
            <a:ext cx="2286000" cy="658368"/>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Estados financieros por empresa</a:t>
            </a:r>
            <a:endParaRPr lang="en-US" sz="1300" dirty="0"/>
          </a:p>
        </p:txBody>
      </p:sp>
      <p:sp>
        <p:nvSpPr>
          <p:cNvPr id="14" name="Text 9"/>
          <p:cNvSpPr/>
          <p:nvPr/>
        </p:nvSpPr>
        <p:spPr>
          <a:xfrm>
            <a:off x="3749040" y="2688336"/>
            <a:ext cx="4572000" cy="658368"/>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P&amp;L, balance y flujo de caja. Análisis financiero con datos reales del simulador.</a:t>
            </a:r>
            <a:endParaRPr lang="en-US" sz="1100" dirty="0"/>
          </a:p>
        </p:txBody>
      </p:sp>
      <p:sp>
        <p:nvSpPr>
          <p:cNvPr id="15" name="Shape 10"/>
          <p:cNvSpPr/>
          <p:nvPr/>
        </p:nvSpPr>
        <p:spPr>
          <a:xfrm>
            <a:off x="640080" y="3438144"/>
            <a:ext cx="7863840" cy="658368"/>
          </a:xfrm>
          <a:prstGeom prst="roundRect">
            <a:avLst>
              <a:gd name="adj" fmla="val 11111"/>
            </a:avLst>
          </a:prstGeom>
          <a:solidFill>
            <a:srgbClr val="FFFFFF"/>
          </a:solidFill>
          <a:ln/>
        </p:spPr>
      </p:sp>
      <p:pic>
        <p:nvPicPr>
          <p:cNvPr id="16" name="Image 3" descr="preencoded.png">    </p:cNvPr>
          <p:cNvPicPr>
            <a:picLocks noChangeAspect="1"/>
          </p:cNvPicPr>
          <p:nvPr/>
        </p:nvPicPr>
        <p:blipFill>
          <a:blip r:embed="rId4"/>
          <a:stretch>
            <a:fillRect/>
          </a:stretch>
        </p:blipFill>
        <p:spPr>
          <a:xfrm>
            <a:off x="822960" y="3575304"/>
            <a:ext cx="320040" cy="320040"/>
          </a:xfrm>
          <a:prstGeom prst="rect">
            <a:avLst/>
          </a:prstGeom>
        </p:spPr>
      </p:pic>
      <p:sp>
        <p:nvSpPr>
          <p:cNvPr id="17" name="Text 11"/>
          <p:cNvSpPr/>
          <p:nvPr/>
        </p:nvSpPr>
        <p:spPr>
          <a:xfrm>
            <a:off x="1371600" y="3438144"/>
            <a:ext cx="2286000" cy="658368"/>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Métricas exportables</a:t>
            </a:r>
            <a:endParaRPr lang="en-US" sz="1300" dirty="0"/>
          </a:p>
        </p:txBody>
      </p:sp>
      <p:sp>
        <p:nvSpPr>
          <p:cNvPr id="18" name="Text 12"/>
          <p:cNvSpPr/>
          <p:nvPr/>
        </p:nvSpPr>
        <p:spPr>
          <a:xfrm>
            <a:off x="3749040" y="3438144"/>
            <a:ext cx="4572000" cy="658368"/>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Datos listos para rúbricas, evaluación por competencias y reportes de acreditación CNA.</a:t>
            </a:r>
            <a:endParaRPr lang="en-US" sz="1100" dirty="0"/>
          </a:p>
        </p:txBody>
      </p:sp>
      <p:sp>
        <p:nvSpPr>
          <p:cNvPr id="19" name="Shape 13"/>
          <p:cNvSpPr/>
          <p:nvPr/>
        </p:nvSpPr>
        <p:spPr>
          <a:xfrm>
            <a:off x="640080" y="4187952"/>
            <a:ext cx="7863840" cy="658368"/>
          </a:xfrm>
          <a:prstGeom prst="roundRect">
            <a:avLst>
              <a:gd name="adj" fmla="val 11111"/>
            </a:avLst>
          </a:prstGeom>
          <a:solidFill>
            <a:srgbClr val="F5F7FA"/>
          </a:solidFill>
          <a:ln/>
        </p:spPr>
      </p:sp>
      <p:pic>
        <p:nvPicPr>
          <p:cNvPr id="20" name="Image 4" descr="preencoded.png">    </p:cNvPr>
          <p:cNvPicPr>
            <a:picLocks noChangeAspect="1"/>
          </p:cNvPicPr>
          <p:nvPr/>
        </p:nvPicPr>
        <p:blipFill>
          <a:blip r:embed="rId5"/>
          <a:stretch>
            <a:fillRect/>
          </a:stretch>
        </p:blipFill>
        <p:spPr>
          <a:xfrm>
            <a:off x="822960" y="4325112"/>
            <a:ext cx="320040" cy="320040"/>
          </a:xfrm>
          <a:prstGeom prst="rect">
            <a:avLst/>
          </a:prstGeom>
        </p:spPr>
      </p:pic>
      <p:sp>
        <p:nvSpPr>
          <p:cNvPr id="21" name="Text 14"/>
          <p:cNvSpPr/>
          <p:nvPr/>
        </p:nvSpPr>
        <p:spPr>
          <a:xfrm>
            <a:off x="1371600" y="4187952"/>
            <a:ext cx="2286000" cy="658368"/>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Historial completo</a:t>
            </a:r>
            <a:endParaRPr lang="en-US" sz="1300" dirty="0"/>
          </a:p>
        </p:txBody>
      </p:sp>
      <p:sp>
        <p:nvSpPr>
          <p:cNvPr id="22" name="Text 15"/>
          <p:cNvSpPr/>
          <p:nvPr/>
        </p:nvSpPr>
        <p:spPr>
          <a:xfrm>
            <a:off x="3749040" y="4187952"/>
            <a:ext cx="4572000" cy="658368"/>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Registro de todas las decisiones y resultados de todo el semestre. Evidencia documentada.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213C"/>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El rol del profesor con el simulador</a:t>
            </a:r>
            <a:endParaRPr lang="en-US" sz="2800" dirty="0"/>
          </a:p>
        </p:txBody>
      </p:sp>
      <p:sp>
        <p:nvSpPr>
          <p:cNvPr id="3" name="Shape 1"/>
          <p:cNvSpPr/>
          <p:nvPr/>
        </p:nvSpPr>
        <p:spPr>
          <a:xfrm>
            <a:off x="914400" y="1188720"/>
            <a:ext cx="7315200" cy="777240"/>
          </a:xfrm>
          <a:prstGeom prst="roundRect">
            <a:avLst>
              <a:gd name="adj" fmla="val 11765"/>
            </a:avLst>
          </a:prstGeom>
          <a:solidFill>
            <a:srgbClr val="49C5B1">
              <a:alpha val="80000"/>
            </a:srgbClr>
          </a:solidFill>
          <a:ln/>
        </p:spPr>
      </p:sp>
      <p:sp>
        <p:nvSpPr>
          <p:cNvPr id="4" name="Text 2"/>
          <p:cNvSpPr/>
          <p:nvPr/>
        </p:nvSpPr>
        <p:spPr>
          <a:xfrm>
            <a:off x="1188720" y="1188720"/>
            <a:ext cx="3200400" cy="777240"/>
          </a:xfrm>
          <a:prstGeom prst="rect">
            <a:avLst/>
          </a:prstGeom>
          <a:noFill/>
          <a:ln/>
        </p:spPr>
        <p:txBody>
          <a:bodyPr wrap="square" rtlCol="0" anchor="ctr"/>
          <a:lstStyle/>
          <a:p>
            <a:pPr indent="0" marL="0">
              <a:buNone/>
            </a:pPr>
            <a:r>
              <a:rPr lang="en-US" sz="1400" b="1" dirty="0">
                <a:solidFill>
                  <a:srgbClr val="49C5B1"/>
                </a:solidFill>
                <a:latin typeface="Arial" pitchFamily="34" charset="0"/>
                <a:ea typeface="Arial" pitchFamily="34" charset="-122"/>
                <a:cs typeface="Arial" pitchFamily="34" charset="-120"/>
              </a:rPr>
              <a:t>NO es un técnico de sistemas</a:t>
            </a:r>
            <a:endParaRPr lang="en-US" sz="1400" dirty="0"/>
          </a:p>
        </p:txBody>
      </p:sp>
      <p:sp>
        <p:nvSpPr>
          <p:cNvPr id="5" name="Text 3"/>
          <p:cNvSpPr/>
          <p:nvPr/>
        </p:nvSpPr>
        <p:spPr>
          <a:xfrm>
            <a:off x="4389120" y="1188720"/>
            <a:ext cx="3657600" cy="7772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El simulador es web, intuitivo. La capacitación dura 2 horas. No necesita saber de tecnología.</a:t>
            </a:r>
            <a:endParaRPr lang="en-US" sz="1200" dirty="0"/>
          </a:p>
        </p:txBody>
      </p:sp>
      <p:sp>
        <p:nvSpPr>
          <p:cNvPr id="6" name="Shape 4"/>
          <p:cNvSpPr/>
          <p:nvPr/>
        </p:nvSpPr>
        <p:spPr>
          <a:xfrm>
            <a:off x="914400" y="2103120"/>
            <a:ext cx="7315200" cy="777240"/>
          </a:xfrm>
          <a:prstGeom prst="roundRect">
            <a:avLst>
              <a:gd name="adj" fmla="val 11765"/>
            </a:avLst>
          </a:prstGeom>
          <a:solidFill>
            <a:srgbClr val="49C5B1">
              <a:alpha val="80000"/>
            </a:srgbClr>
          </a:solidFill>
          <a:ln/>
        </p:spPr>
      </p:sp>
      <p:sp>
        <p:nvSpPr>
          <p:cNvPr id="7" name="Text 5"/>
          <p:cNvSpPr/>
          <p:nvPr/>
        </p:nvSpPr>
        <p:spPr>
          <a:xfrm>
            <a:off x="1188720" y="2103120"/>
            <a:ext cx="3200400" cy="777240"/>
          </a:xfrm>
          <a:prstGeom prst="rect">
            <a:avLst/>
          </a:prstGeom>
          <a:noFill/>
          <a:ln/>
        </p:spPr>
        <p:txBody>
          <a:bodyPr wrap="square" rtlCol="0" anchor="ctr"/>
          <a:lstStyle/>
          <a:p>
            <a:pPr indent="0" marL="0">
              <a:buNone/>
            </a:pPr>
            <a:r>
              <a:rPr lang="en-US" sz="1400" b="1" dirty="0">
                <a:solidFill>
                  <a:srgbClr val="49C5B1"/>
                </a:solidFill>
                <a:latin typeface="Arial" pitchFamily="34" charset="0"/>
                <a:ea typeface="Arial" pitchFamily="34" charset="-122"/>
                <a:cs typeface="Arial" pitchFamily="34" charset="-120"/>
              </a:rPr>
              <a:t>ES un facilitador del aprendizaje</a:t>
            </a:r>
            <a:endParaRPr lang="en-US" sz="1400" dirty="0"/>
          </a:p>
        </p:txBody>
      </p:sp>
      <p:sp>
        <p:nvSpPr>
          <p:cNvPr id="8" name="Text 6"/>
          <p:cNvSpPr/>
          <p:nvPr/>
        </p:nvSpPr>
        <p:spPr>
          <a:xfrm>
            <a:off x="4389120" y="2103120"/>
            <a:ext cx="3657600" cy="7772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Su rol cambia: de exponer contenido a guiar la discusión post-ronda. '¿Por qué tomaron esa decisión?'</a:t>
            </a:r>
            <a:endParaRPr lang="en-US" sz="1200" dirty="0"/>
          </a:p>
        </p:txBody>
      </p:sp>
      <p:sp>
        <p:nvSpPr>
          <p:cNvPr id="9" name="Shape 7"/>
          <p:cNvSpPr/>
          <p:nvPr/>
        </p:nvSpPr>
        <p:spPr>
          <a:xfrm>
            <a:off x="914400" y="3017520"/>
            <a:ext cx="7315200" cy="777240"/>
          </a:xfrm>
          <a:prstGeom prst="roundRect">
            <a:avLst>
              <a:gd name="adj" fmla="val 11765"/>
            </a:avLst>
          </a:prstGeom>
          <a:solidFill>
            <a:srgbClr val="49C5B1">
              <a:alpha val="80000"/>
            </a:srgbClr>
          </a:solidFill>
          <a:ln/>
        </p:spPr>
      </p:sp>
      <p:sp>
        <p:nvSpPr>
          <p:cNvPr id="10" name="Text 8"/>
          <p:cNvSpPr/>
          <p:nvPr/>
        </p:nvSpPr>
        <p:spPr>
          <a:xfrm>
            <a:off x="1188720" y="3017520"/>
            <a:ext cx="3200400" cy="777240"/>
          </a:xfrm>
          <a:prstGeom prst="rect">
            <a:avLst/>
          </a:prstGeom>
          <a:noFill/>
          <a:ln/>
        </p:spPr>
        <p:txBody>
          <a:bodyPr wrap="square" rtlCol="0" anchor="ctr"/>
          <a:lstStyle/>
          <a:p>
            <a:pPr indent="0" marL="0">
              <a:buNone/>
            </a:pPr>
            <a:r>
              <a:rPr lang="en-US" sz="1400" b="1" dirty="0">
                <a:solidFill>
                  <a:srgbClr val="49C5B1"/>
                </a:solidFill>
                <a:latin typeface="Arial" pitchFamily="34" charset="0"/>
                <a:ea typeface="Arial" pitchFamily="34" charset="-122"/>
                <a:cs typeface="Arial" pitchFamily="34" charset="-120"/>
              </a:rPr>
              <a:t>Diseña la integración curricular</a:t>
            </a:r>
            <a:endParaRPr lang="en-US" sz="1400" dirty="0"/>
          </a:p>
        </p:txBody>
      </p:sp>
      <p:sp>
        <p:nvSpPr>
          <p:cNvPr id="11" name="Text 9"/>
          <p:cNvSpPr/>
          <p:nvPr/>
        </p:nvSpPr>
        <p:spPr>
          <a:xfrm>
            <a:off x="4389120" y="3017520"/>
            <a:ext cx="3657600" cy="7772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Define cuántas rondas, en qué semanas, qué porcentaje de la evaluación. Nosotros lo apoyamos.</a:t>
            </a:r>
            <a:endParaRPr lang="en-US" sz="1200" dirty="0"/>
          </a:p>
        </p:txBody>
      </p:sp>
      <p:sp>
        <p:nvSpPr>
          <p:cNvPr id="12" name="Shape 10"/>
          <p:cNvSpPr/>
          <p:nvPr/>
        </p:nvSpPr>
        <p:spPr>
          <a:xfrm>
            <a:off x="914400" y="3931920"/>
            <a:ext cx="7315200" cy="777240"/>
          </a:xfrm>
          <a:prstGeom prst="roundRect">
            <a:avLst>
              <a:gd name="adj" fmla="val 11765"/>
            </a:avLst>
          </a:prstGeom>
          <a:solidFill>
            <a:srgbClr val="49C5B1">
              <a:alpha val="80000"/>
            </a:srgbClr>
          </a:solidFill>
          <a:ln/>
        </p:spPr>
      </p:sp>
      <p:sp>
        <p:nvSpPr>
          <p:cNvPr id="13" name="Text 11"/>
          <p:cNvSpPr/>
          <p:nvPr/>
        </p:nvSpPr>
        <p:spPr>
          <a:xfrm>
            <a:off x="1188720" y="3931920"/>
            <a:ext cx="3200400" cy="777240"/>
          </a:xfrm>
          <a:prstGeom prst="rect">
            <a:avLst/>
          </a:prstGeom>
          <a:noFill/>
          <a:ln/>
        </p:spPr>
        <p:txBody>
          <a:bodyPr wrap="square" rtlCol="0" anchor="ctr"/>
          <a:lstStyle/>
          <a:p>
            <a:pPr indent="0" marL="0">
              <a:buNone/>
            </a:pPr>
            <a:r>
              <a:rPr lang="en-US" sz="1400" b="1" dirty="0">
                <a:solidFill>
                  <a:srgbClr val="49C5B1"/>
                </a:solidFill>
                <a:latin typeface="Arial" pitchFamily="34" charset="0"/>
                <a:ea typeface="Arial" pitchFamily="34" charset="-122"/>
                <a:cs typeface="Arial" pitchFamily="34" charset="-120"/>
              </a:rPr>
              <a:t>Evalúa con datos reales</a:t>
            </a:r>
            <a:endParaRPr lang="en-US" sz="1400" dirty="0"/>
          </a:p>
        </p:txBody>
      </p:sp>
      <p:sp>
        <p:nvSpPr>
          <p:cNvPr id="14" name="Text 12"/>
          <p:cNvSpPr/>
          <p:nvPr/>
        </p:nvSpPr>
        <p:spPr>
          <a:xfrm>
            <a:off x="4389120" y="3931920"/>
            <a:ext cx="3657600" cy="7772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Usa el dashboard para calificar: desempeño financiero, calidad de las decisiones, trabajo en equipo.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213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886200" y="914400"/>
            <a:ext cx="1371600" cy="1371600"/>
          </a:xfrm>
          <a:prstGeom prst="rect">
            <a:avLst/>
          </a:prstGeom>
        </p:spPr>
      </p:pic>
      <p:sp>
        <p:nvSpPr>
          <p:cNvPr id="3" name="Text 0"/>
          <p:cNvSpPr/>
          <p:nvPr/>
        </p:nvSpPr>
        <p:spPr>
          <a:xfrm>
            <a:off x="914400" y="2468880"/>
            <a:ext cx="7315200"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Demo en vivo</a:t>
            </a:r>
            <a:endParaRPr lang="en-US" sz="4400" dirty="0"/>
          </a:p>
        </p:txBody>
      </p:sp>
      <p:sp>
        <p:nvSpPr>
          <p:cNvPr id="4" name="Text 1"/>
          <p:cNvSpPr/>
          <p:nvPr/>
        </p:nvSpPr>
        <p:spPr>
          <a:xfrm>
            <a:off x="914400" y="3383280"/>
            <a:ext cx="7315200" cy="548640"/>
          </a:xfrm>
          <a:prstGeom prst="rect">
            <a:avLst/>
          </a:prstGeom>
          <a:noFill/>
          <a:ln/>
        </p:spPr>
        <p:txBody>
          <a:bodyPr wrap="square" rtlCol="0" anchor="ctr"/>
          <a:lstStyle/>
          <a:p>
            <a:pPr algn="ctr" indent="0" marL="0">
              <a:buNone/>
            </a:pPr>
            <a:r>
              <a:rPr lang="en-US" sz="1800" dirty="0">
                <a:solidFill>
                  <a:srgbClr val="49C5B1"/>
                </a:solidFill>
                <a:latin typeface="Arial" pitchFamily="34" charset="0"/>
                <a:ea typeface="Arial" pitchFamily="34" charset="-122"/>
                <a:cs typeface="Arial" pitchFamily="34" charset="-120"/>
              </a:rPr>
              <a:t>Vamos a dirigir una empresa juntos — 15 minutos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Nuestros 5 simuladores: uno para cada necesidad</a:t>
            </a:r>
            <a:endParaRPr lang="en-US" sz="2800" dirty="0"/>
          </a:p>
        </p:txBody>
      </p:sp>
      <p:sp>
        <p:nvSpPr>
          <p:cNvPr id="3" name="Shape 1"/>
          <p:cNvSpPr/>
          <p:nvPr/>
        </p:nvSpPr>
        <p:spPr>
          <a:xfrm>
            <a:off x="640080" y="1097280"/>
            <a:ext cx="7863840" cy="685800"/>
          </a:xfrm>
          <a:prstGeom prst="roundRect">
            <a:avLst>
              <a:gd name="adj" fmla="val 10667"/>
            </a:avLst>
          </a:prstGeom>
          <a:solidFill>
            <a:srgbClr val="F5F7FA"/>
          </a:solidFill>
          <a:ln/>
        </p:spPr>
      </p:sp>
      <p:sp>
        <p:nvSpPr>
          <p:cNvPr id="4" name="Shape 2"/>
          <p:cNvSpPr/>
          <p:nvPr/>
        </p:nvSpPr>
        <p:spPr>
          <a:xfrm>
            <a:off x="822960" y="1234440"/>
            <a:ext cx="411480" cy="411480"/>
          </a:xfrm>
          <a:prstGeom prst="roundRect">
            <a:avLst>
              <a:gd name="adj" fmla="val 13333"/>
            </a:avLst>
          </a:prstGeom>
          <a:solidFill>
            <a:srgbClr val="49C5B1"/>
          </a:solidFill>
          <a:ln/>
        </p:spPr>
      </p:sp>
      <p:sp>
        <p:nvSpPr>
          <p:cNvPr id="5" name="Text 3"/>
          <p:cNvSpPr/>
          <p:nvPr/>
        </p:nvSpPr>
        <p:spPr>
          <a:xfrm>
            <a:off x="1463040" y="1097280"/>
            <a:ext cx="2011680" cy="685800"/>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CompanyGame</a:t>
            </a:r>
            <a:endParaRPr lang="en-US" sz="1300" dirty="0"/>
          </a:p>
        </p:txBody>
      </p:sp>
      <p:sp>
        <p:nvSpPr>
          <p:cNvPr id="6" name="Text 4"/>
          <p:cNvSpPr/>
          <p:nvPr/>
        </p:nvSpPr>
        <p:spPr>
          <a:xfrm>
            <a:off x="3474720" y="1097280"/>
            <a:ext cx="1828800" cy="685800"/>
          </a:xfrm>
          <a:prstGeom prst="rect">
            <a:avLst/>
          </a:prstGeom>
          <a:noFill/>
          <a:ln/>
        </p:spPr>
        <p:txBody>
          <a:bodyPr wrap="square" rtlCol="0" anchor="ctr"/>
          <a:lstStyle/>
          <a:p>
            <a:pPr indent="0" marL="0">
              <a:buNone/>
            </a:pPr>
            <a:r>
              <a:rPr lang="en-US" sz="1200" b="1" dirty="0">
                <a:solidFill>
                  <a:srgbClr val="49C5B1"/>
                </a:solidFill>
                <a:latin typeface="Arial" pitchFamily="34" charset="0"/>
                <a:ea typeface="Arial" pitchFamily="34" charset="-122"/>
                <a:cs typeface="Arial" pitchFamily="34" charset="-120"/>
              </a:rPr>
              <a:t>Gestión integral / Estrategia</a:t>
            </a:r>
            <a:endParaRPr lang="en-US" sz="1200" dirty="0"/>
          </a:p>
        </p:txBody>
      </p:sp>
      <p:sp>
        <p:nvSpPr>
          <p:cNvPr id="7" name="Text 5"/>
          <p:cNvSpPr/>
          <p:nvPr/>
        </p:nvSpPr>
        <p:spPr>
          <a:xfrm>
            <a:off x="5394960" y="1097280"/>
            <a:ext cx="2926080" cy="685800"/>
          </a:xfrm>
          <a:prstGeom prst="rect">
            <a:avLst/>
          </a:prstGeom>
          <a:noFill/>
          <a:ln/>
        </p:spPr>
        <p:txBody>
          <a:bodyPr wrap="square" rtlCol="0" anchor="ctr"/>
          <a:lstStyle/>
          <a:p>
            <a:pPr indent="0" marL="0">
              <a:buNone/>
            </a:pPr>
            <a:r>
              <a:rPr lang="en-US" sz="1000" dirty="0">
                <a:solidFill>
                  <a:srgbClr val="5A5F70"/>
                </a:solidFill>
                <a:latin typeface="Arial" pitchFamily="34" charset="0"/>
                <a:ea typeface="Arial" pitchFamily="34" charset="-122"/>
                <a:cs typeface="Arial" pitchFamily="34" charset="-120"/>
              </a:rPr>
              <a:t>Simulación Gerencial, Dirección Estratégica, Política Empresarial, Mercadeo, Finanzas</a:t>
            </a:r>
            <a:endParaRPr lang="en-US" sz="1000" dirty="0"/>
          </a:p>
        </p:txBody>
      </p:sp>
      <p:sp>
        <p:nvSpPr>
          <p:cNvPr id="8" name="Shape 6"/>
          <p:cNvSpPr/>
          <p:nvPr/>
        </p:nvSpPr>
        <p:spPr>
          <a:xfrm>
            <a:off x="640080" y="1874520"/>
            <a:ext cx="7863840" cy="685800"/>
          </a:xfrm>
          <a:prstGeom prst="roundRect">
            <a:avLst>
              <a:gd name="adj" fmla="val 10667"/>
            </a:avLst>
          </a:prstGeom>
          <a:solidFill>
            <a:srgbClr val="FFFFFF"/>
          </a:solidFill>
          <a:ln/>
        </p:spPr>
      </p:sp>
      <p:sp>
        <p:nvSpPr>
          <p:cNvPr id="9" name="Shape 7"/>
          <p:cNvSpPr/>
          <p:nvPr/>
        </p:nvSpPr>
        <p:spPr>
          <a:xfrm>
            <a:off x="822960" y="2011680"/>
            <a:ext cx="411480" cy="411480"/>
          </a:xfrm>
          <a:prstGeom prst="roundRect">
            <a:avLst>
              <a:gd name="adj" fmla="val 13333"/>
            </a:avLst>
          </a:prstGeom>
          <a:solidFill>
            <a:srgbClr val="1D9E75"/>
          </a:solidFill>
          <a:ln/>
        </p:spPr>
      </p:sp>
      <p:sp>
        <p:nvSpPr>
          <p:cNvPr id="10" name="Text 8"/>
          <p:cNvSpPr/>
          <p:nvPr/>
        </p:nvSpPr>
        <p:spPr>
          <a:xfrm>
            <a:off x="1463040" y="1874520"/>
            <a:ext cx="2011680" cy="685800"/>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SimVenture Evolution</a:t>
            </a:r>
            <a:endParaRPr lang="en-US" sz="1300" dirty="0"/>
          </a:p>
        </p:txBody>
      </p:sp>
      <p:sp>
        <p:nvSpPr>
          <p:cNvPr id="11" name="Text 9"/>
          <p:cNvSpPr/>
          <p:nvPr/>
        </p:nvSpPr>
        <p:spPr>
          <a:xfrm>
            <a:off x="3474720" y="1874520"/>
            <a:ext cx="1828800" cy="685800"/>
          </a:xfrm>
          <a:prstGeom prst="rect">
            <a:avLst/>
          </a:prstGeom>
          <a:noFill/>
          <a:ln/>
        </p:spPr>
        <p:txBody>
          <a:bodyPr wrap="square" rtlCol="0" anchor="ctr"/>
          <a:lstStyle/>
          <a:p>
            <a:pPr indent="0" marL="0">
              <a:buNone/>
            </a:pPr>
            <a:r>
              <a:rPr lang="en-US" sz="1200" b="1" dirty="0">
                <a:solidFill>
                  <a:srgbClr val="1D9E75"/>
                </a:solidFill>
                <a:latin typeface="Arial" pitchFamily="34" charset="0"/>
                <a:ea typeface="Arial" pitchFamily="34" charset="-122"/>
                <a:cs typeface="Arial" pitchFamily="34" charset="-120"/>
              </a:rPr>
              <a:t>Emprendimiento</a:t>
            </a:r>
            <a:endParaRPr lang="en-US" sz="1200" dirty="0"/>
          </a:p>
        </p:txBody>
      </p:sp>
      <p:sp>
        <p:nvSpPr>
          <p:cNvPr id="12" name="Text 10"/>
          <p:cNvSpPr/>
          <p:nvPr/>
        </p:nvSpPr>
        <p:spPr>
          <a:xfrm>
            <a:off x="5394960" y="1874520"/>
            <a:ext cx="2926080" cy="685800"/>
          </a:xfrm>
          <a:prstGeom prst="rect">
            <a:avLst/>
          </a:prstGeom>
          <a:noFill/>
          <a:ln/>
        </p:spPr>
        <p:txBody>
          <a:bodyPr wrap="square" rtlCol="0" anchor="ctr"/>
          <a:lstStyle/>
          <a:p>
            <a:pPr indent="0" marL="0">
              <a:buNone/>
            </a:pPr>
            <a:r>
              <a:rPr lang="en-US" sz="1000" dirty="0">
                <a:solidFill>
                  <a:srgbClr val="5A5F70"/>
                </a:solidFill>
                <a:latin typeface="Arial" pitchFamily="34" charset="0"/>
                <a:ea typeface="Arial" pitchFamily="34" charset="-122"/>
                <a:cs typeface="Arial" pitchFamily="34" charset="-120"/>
              </a:rPr>
              <a:t>Creación de Empresa, Plan de Negocio, Emprendimiento</a:t>
            </a:r>
            <a:endParaRPr lang="en-US" sz="1000" dirty="0"/>
          </a:p>
        </p:txBody>
      </p:sp>
      <p:sp>
        <p:nvSpPr>
          <p:cNvPr id="13" name="Shape 11"/>
          <p:cNvSpPr/>
          <p:nvPr/>
        </p:nvSpPr>
        <p:spPr>
          <a:xfrm>
            <a:off x="640080" y="2651760"/>
            <a:ext cx="7863840" cy="685800"/>
          </a:xfrm>
          <a:prstGeom prst="roundRect">
            <a:avLst>
              <a:gd name="adj" fmla="val 10667"/>
            </a:avLst>
          </a:prstGeom>
          <a:solidFill>
            <a:srgbClr val="F5F7FA"/>
          </a:solidFill>
          <a:ln/>
        </p:spPr>
      </p:sp>
      <p:sp>
        <p:nvSpPr>
          <p:cNvPr id="14" name="Shape 12"/>
          <p:cNvSpPr/>
          <p:nvPr/>
        </p:nvSpPr>
        <p:spPr>
          <a:xfrm>
            <a:off x="822960" y="2788920"/>
            <a:ext cx="411480" cy="411480"/>
          </a:xfrm>
          <a:prstGeom prst="roundRect">
            <a:avLst>
              <a:gd name="adj" fmla="val 13333"/>
            </a:avLst>
          </a:prstGeom>
          <a:solidFill>
            <a:srgbClr val="F97316"/>
          </a:solidFill>
          <a:ln/>
        </p:spPr>
      </p:sp>
      <p:sp>
        <p:nvSpPr>
          <p:cNvPr id="15" name="Text 13"/>
          <p:cNvSpPr/>
          <p:nvPr/>
        </p:nvSpPr>
        <p:spPr>
          <a:xfrm>
            <a:off x="1463040" y="2651760"/>
            <a:ext cx="2011680" cy="685800"/>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SimVenture Validate</a:t>
            </a:r>
            <a:endParaRPr lang="en-US" sz="1300" dirty="0"/>
          </a:p>
        </p:txBody>
      </p:sp>
      <p:sp>
        <p:nvSpPr>
          <p:cNvPr id="16" name="Text 14"/>
          <p:cNvSpPr/>
          <p:nvPr/>
        </p:nvSpPr>
        <p:spPr>
          <a:xfrm>
            <a:off x="3474720" y="2651760"/>
            <a:ext cx="1828800" cy="685800"/>
          </a:xfrm>
          <a:prstGeom prst="rect">
            <a:avLst/>
          </a:prstGeom>
          <a:noFill/>
          <a:ln/>
        </p:spPr>
        <p:txBody>
          <a:bodyPr wrap="square" rtlCol="0" anchor="ctr"/>
          <a:lstStyle/>
          <a:p>
            <a:pPr indent="0" marL="0">
              <a:buNone/>
            </a:pPr>
            <a:r>
              <a:rPr lang="en-US" sz="1200" b="1" dirty="0">
                <a:solidFill>
                  <a:srgbClr val="F97316"/>
                </a:solidFill>
                <a:latin typeface="Arial" pitchFamily="34" charset="0"/>
                <a:ea typeface="Arial" pitchFamily="34" charset="-122"/>
                <a:cs typeface="Arial" pitchFamily="34" charset="-120"/>
              </a:rPr>
              <a:t>Innovación / Lean Startup</a:t>
            </a:r>
            <a:endParaRPr lang="en-US" sz="1200" dirty="0"/>
          </a:p>
        </p:txBody>
      </p:sp>
      <p:sp>
        <p:nvSpPr>
          <p:cNvPr id="17" name="Text 15"/>
          <p:cNvSpPr/>
          <p:nvPr/>
        </p:nvSpPr>
        <p:spPr>
          <a:xfrm>
            <a:off x="5394960" y="2651760"/>
            <a:ext cx="2926080" cy="685800"/>
          </a:xfrm>
          <a:prstGeom prst="rect">
            <a:avLst/>
          </a:prstGeom>
          <a:noFill/>
          <a:ln/>
        </p:spPr>
        <p:txBody>
          <a:bodyPr wrap="square" rtlCol="0" anchor="ctr"/>
          <a:lstStyle/>
          <a:p>
            <a:pPr indent="0" marL="0">
              <a:buNone/>
            </a:pPr>
            <a:r>
              <a:rPr lang="en-US" sz="1000" dirty="0">
                <a:solidFill>
                  <a:srgbClr val="5A5F70"/>
                </a:solidFill>
                <a:latin typeface="Arial" pitchFamily="34" charset="0"/>
                <a:ea typeface="Arial" pitchFamily="34" charset="-122"/>
                <a:cs typeface="Arial" pitchFamily="34" charset="-120"/>
              </a:rPr>
              <a:t>Modelos de Negocio, Design Thinking, Innovación, Semilleros</a:t>
            </a:r>
            <a:endParaRPr lang="en-US" sz="1000" dirty="0"/>
          </a:p>
        </p:txBody>
      </p:sp>
      <p:sp>
        <p:nvSpPr>
          <p:cNvPr id="18" name="Shape 16"/>
          <p:cNvSpPr/>
          <p:nvPr/>
        </p:nvSpPr>
        <p:spPr>
          <a:xfrm>
            <a:off x="640080" y="3429000"/>
            <a:ext cx="7863840" cy="685800"/>
          </a:xfrm>
          <a:prstGeom prst="roundRect">
            <a:avLst>
              <a:gd name="adj" fmla="val 10667"/>
            </a:avLst>
          </a:prstGeom>
          <a:solidFill>
            <a:srgbClr val="FFFFFF"/>
          </a:solidFill>
          <a:ln/>
        </p:spPr>
      </p:sp>
      <p:sp>
        <p:nvSpPr>
          <p:cNvPr id="19" name="Shape 17"/>
          <p:cNvSpPr/>
          <p:nvPr/>
        </p:nvSpPr>
        <p:spPr>
          <a:xfrm>
            <a:off x="822960" y="3566160"/>
            <a:ext cx="411480" cy="411480"/>
          </a:xfrm>
          <a:prstGeom prst="roundRect">
            <a:avLst>
              <a:gd name="adj" fmla="val 13333"/>
            </a:avLst>
          </a:prstGeom>
          <a:solidFill>
            <a:srgbClr val="3B82F6"/>
          </a:solidFill>
          <a:ln/>
        </p:spPr>
      </p:sp>
      <p:sp>
        <p:nvSpPr>
          <p:cNvPr id="20" name="Text 18"/>
          <p:cNvSpPr/>
          <p:nvPr/>
        </p:nvSpPr>
        <p:spPr>
          <a:xfrm>
            <a:off x="1463040" y="3429000"/>
            <a:ext cx="2011680" cy="685800"/>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SimProject</a:t>
            </a:r>
            <a:endParaRPr lang="en-US" sz="1300" dirty="0"/>
          </a:p>
        </p:txBody>
      </p:sp>
      <p:sp>
        <p:nvSpPr>
          <p:cNvPr id="21" name="Text 19"/>
          <p:cNvSpPr/>
          <p:nvPr/>
        </p:nvSpPr>
        <p:spPr>
          <a:xfrm>
            <a:off x="3474720" y="3429000"/>
            <a:ext cx="1828800" cy="685800"/>
          </a:xfrm>
          <a:prstGeom prst="rect">
            <a:avLst/>
          </a:prstGeom>
          <a:noFill/>
          <a:ln/>
        </p:spPr>
        <p:txBody>
          <a:bodyPr wrap="square" rtlCol="0" anchor="ctr"/>
          <a:lstStyle/>
          <a:p>
            <a:pPr indent="0" marL="0">
              <a:buNone/>
            </a:pPr>
            <a:r>
              <a:rPr lang="en-US" sz="1200" b="1" dirty="0">
                <a:solidFill>
                  <a:srgbClr val="3B82F6"/>
                </a:solidFill>
                <a:latin typeface="Arial" pitchFamily="34" charset="0"/>
                <a:ea typeface="Arial" pitchFamily="34" charset="-122"/>
                <a:cs typeface="Arial" pitchFamily="34" charset="-120"/>
              </a:rPr>
              <a:t>Gerencia de Proyectos</a:t>
            </a:r>
            <a:endParaRPr lang="en-US" sz="1200" dirty="0"/>
          </a:p>
        </p:txBody>
      </p:sp>
      <p:sp>
        <p:nvSpPr>
          <p:cNvPr id="22" name="Text 20"/>
          <p:cNvSpPr/>
          <p:nvPr/>
        </p:nvSpPr>
        <p:spPr>
          <a:xfrm>
            <a:off x="5394960" y="3429000"/>
            <a:ext cx="2926080" cy="685800"/>
          </a:xfrm>
          <a:prstGeom prst="rect">
            <a:avLst/>
          </a:prstGeom>
          <a:noFill/>
          <a:ln/>
        </p:spPr>
        <p:txBody>
          <a:bodyPr wrap="square" rtlCol="0" anchor="ctr"/>
          <a:lstStyle/>
          <a:p>
            <a:pPr indent="0" marL="0">
              <a:buNone/>
            </a:pPr>
            <a:r>
              <a:rPr lang="en-US" sz="1000" dirty="0">
                <a:solidFill>
                  <a:srgbClr val="5A5F70"/>
                </a:solidFill>
                <a:latin typeface="Arial" pitchFamily="34" charset="0"/>
                <a:ea typeface="Arial" pitchFamily="34" charset="-122"/>
                <a:cs typeface="Arial" pitchFamily="34" charset="-120"/>
              </a:rPr>
              <a:t>Formulación y Evaluación de Proyectos, Gerencia de Proyectos</a:t>
            </a:r>
            <a:endParaRPr lang="en-US" sz="1000" dirty="0"/>
          </a:p>
        </p:txBody>
      </p:sp>
      <p:sp>
        <p:nvSpPr>
          <p:cNvPr id="23" name="Shape 21"/>
          <p:cNvSpPr/>
          <p:nvPr/>
        </p:nvSpPr>
        <p:spPr>
          <a:xfrm>
            <a:off x="640080" y="4206240"/>
            <a:ext cx="7863840" cy="685800"/>
          </a:xfrm>
          <a:prstGeom prst="roundRect">
            <a:avLst>
              <a:gd name="adj" fmla="val 10667"/>
            </a:avLst>
          </a:prstGeom>
          <a:solidFill>
            <a:srgbClr val="F5F7FA"/>
          </a:solidFill>
          <a:ln/>
        </p:spPr>
      </p:sp>
      <p:sp>
        <p:nvSpPr>
          <p:cNvPr id="24" name="Shape 22"/>
          <p:cNvSpPr/>
          <p:nvPr/>
        </p:nvSpPr>
        <p:spPr>
          <a:xfrm>
            <a:off x="822960" y="4343400"/>
            <a:ext cx="411480" cy="411480"/>
          </a:xfrm>
          <a:prstGeom prst="roundRect">
            <a:avLst>
              <a:gd name="adj" fmla="val 13333"/>
            </a:avLst>
          </a:prstGeom>
          <a:solidFill>
            <a:srgbClr val="8B5CF6"/>
          </a:solidFill>
          <a:ln/>
        </p:spPr>
      </p:sp>
      <p:sp>
        <p:nvSpPr>
          <p:cNvPr id="25" name="Text 23"/>
          <p:cNvSpPr/>
          <p:nvPr/>
        </p:nvSpPr>
        <p:spPr>
          <a:xfrm>
            <a:off x="1463040" y="4206240"/>
            <a:ext cx="2011680" cy="685800"/>
          </a:xfrm>
          <a:prstGeom prst="rect">
            <a:avLst/>
          </a:prstGeom>
          <a:noFill/>
          <a:ln/>
        </p:spPr>
        <p:txBody>
          <a:bodyPr wrap="square" rtlCol="0" anchor="ctr"/>
          <a:lstStyle/>
          <a:p>
            <a:pPr indent="0" marL="0">
              <a:buNone/>
            </a:pPr>
            <a:r>
              <a:rPr lang="en-US" sz="1300" b="1" dirty="0">
                <a:solidFill>
                  <a:srgbClr val="1C213C"/>
                </a:solidFill>
                <a:latin typeface="Arial" pitchFamily="34" charset="0"/>
                <a:ea typeface="Arial" pitchFamily="34" charset="-122"/>
                <a:cs typeface="Arial" pitchFamily="34" charset="-120"/>
              </a:rPr>
              <a:t>SimAgile</a:t>
            </a:r>
            <a:endParaRPr lang="en-US" sz="1300" dirty="0"/>
          </a:p>
        </p:txBody>
      </p:sp>
      <p:sp>
        <p:nvSpPr>
          <p:cNvPr id="26" name="Text 24"/>
          <p:cNvSpPr/>
          <p:nvPr/>
        </p:nvSpPr>
        <p:spPr>
          <a:xfrm>
            <a:off x="3474720" y="4206240"/>
            <a:ext cx="1828800" cy="685800"/>
          </a:xfrm>
          <a:prstGeom prst="rect">
            <a:avLst/>
          </a:prstGeom>
          <a:noFill/>
          <a:ln/>
        </p:spPr>
        <p:txBody>
          <a:bodyPr wrap="square" rtlCol="0" anchor="ctr"/>
          <a:lstStyle/>
          <a:p>
            <a:pPr indent="0" marL="0">
              <a:buNone/>
            </a:pPr>
            <a:r>
              <a:rPr lang="en-US" sz="1200" b="1" dirty="0">
                <a:solidFill>
                  <a:srgbClr val="8B5CF6"/>
                </a:solidFill>
                <a:latin typeface="Arial" pitchFamily="34" charset="0"/>
                <a:ea typeface="Arial" pitchFamily="34" charset="-122"/>
                <a:cs typeface="Arial" pitchFamily="34" charset="-120"/>
              </a:rPr>
              <a:t>Metodologías Ágiles</a:t>
            </a:r>
            <a:endParaRPr lang="en-US" sz="1200" dirty="0"/>
          </a:p>
        </p:txBody>
      </p:sp>
      <p:sp>
        <p:nvSpPr>
          <p:cNvPr id="27" name="Text 25"/>
          <p:cNvSpPr/>
          <p:nvPr/>
        </p:nvSpPr>
        <p:spPr>
          <a:xfrm>
            <a:off x="5394960" y="4206240"/>
            <a:ext cx="2926080" cy="685800"/>
          </a:xfrm>
          <a:prstGeom prst="rect">
            <a:avLst/>
          </a:prstGeom>
          <a:noFill/>
          <a:ln/>
        </p:spPr>
        <p:txBody>
          <a:bodyPr wrap="square" rtlCol="0" anchor="ctr"/>
          <a:lstStyle/>
          <a:p>
            <a:pPr indent="0" marL="0">
              <a:buNone/>
            </a:pPr>
            <a:r>
              <a:rPr lang="en-US" sz="1000" dirty="0">
                <a:solidFill>
                  <a:srgbClr val="5A5F70"/>
                </a:solidFill>
                <a:latin typeface="Arial" pitchFamily="34" charset="0"/>
                <a:ea typeface="Arial" pitchFamily="34" charset="-122"/>
                <a:cs typeface="Arial" pitchFamily="34" charset="-120"/>
              </a:rPr>
              <a:t>Transformación Digital, Scrum, Agilidad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49C5B1"/>
        </a:solidFill>
      </p:bgPr>
    </p:bg>
    <p:spTree>
      <p:nvGrpSpPr>
        <p:cNvPr id="1" name=""/>
        <p:cNvGrpSpPr/>
        <p:nvPr/>
      </p:nvGrpSpPr>
      <p:grpSpPr>
        <a:xfrm>
          <a:off x="0" y="0"/>
          <a:ext cx="0" cy="0"/>
          <a:chOff x="0" y="0"/>
          <a:chExt cx="0" cy="0"/>
        </a:xfrm>
      </p:grpSpPr>
      <p:sp>
        <p:nvSpPr>
          <p:cNvPr id="2" name="Text 0"/>
          <p:cNvSpPr/>
          <p:nvPr/>
        </p:nvSpPr>
        <p:spPr>
          <a:xfrm>
            <a:off x="640080" y="2743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Timeline de implementación: un semestre completo</a:t>
            </a:r>
            <a:endParaRPr lang="en-US" sz="2400" dirty="0"/>
          </a:p>
        </p:txBody>
      </p:sp>
      <p:sp>
        <p:nvSpPr>
          <p:cNvPr id="3" name="Shape 1"/>
          <p:cNvSpPr/>
          <p:nvPr/>
        </p:nvSpPr>
        <p:spPr>
          <a:xfrm>
            <a:off x="640080" y="1097280"/>
            <a:ext cx="7863840" cy="457200"/>
          </a:xfrm>
          <a:prstGeom prst="roundRect">
            <a:avLst>
              <a:gd name="adj" fmla="val 12000"/>
            </a:avLst>
          </a:prstGeom>
          <a:solidFill>
            <a:srgbClr val="FFFFFF">
              <a:alpha val="85000"/>
            </a:srgbClr>
          </a:solidFill>
          <a:ln/>
        </p:spPr>
      </p:sp>
      <p:sp>
        <p:nvSpPr>
          <p:cNvPr id="4" name="Text 2"/>
          <p:cNvSpPr/>
          <p:nvPr/>
        </p:nvSpPr>
        <p:spPr>
          <a:xfrm>
            <a:off x="822960" y="1097280"/>
            <a:ext cx="137160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Semana 0</a:t>
            </a:r>
            <a:endParaRPr lang="en-US" sz="1200" dirty="0"/>
          </a:p>
        </p:txBody>
      </p:sp>
      <p:sp>
        <p:nvSpPr>
          <p:cNvPr id="5" name="Text 3"/>
          <p:cNvSpPr/>
          <p:nvPr/>
        </p:nvSpPr>
        <p:spPr>
          <a:xfrm>
            <a:off x="2286000" y="1097280"/>
            <a:ext cx="6035040" cy="457200"/>
          </a:xfrm>
          <a:prstGeom prst="rect">
            <a:avLst/>
          </a:prstGeom>
          <a:noFill/>
          <a:ln/>
        </p:spPr>
        <p:txBody>
          <a:bodyPr wrap="square" rtlCol="0" anchor="ctr"/>
          <a:lstStyle/>
          <a:p>
            <a:pPr indent="0" marL="0">
              <a:buNone/>
            </a:pPr>
            <a:r>
              <a:rPr lang="en-US" sz="1100" dirty="0">
                <a:solidFill>
                  <a:srgbClr val="1C213C"/>
                </a:solidFill>
                <a:latin typeface="Arial" pitchFamily="34" charset="0"/>
                <a:ea typeface="Arial" pitchFamily="34" charset="-122"/>
                <a:cs typeface="Arial" pitchFamily="34" charset="-120"/>
              </a:rPr>
              <a:t>Capacitación al profesor (2h). Definir curso, rondas, evaluación.</a:t>
            </a:r>
            <a:endParaRPr lang="en-US" sz="1100" dirty="0"/>
          </a:p>
        </p:txBody>
      </p:sp>
      <p:sp>
        <p:nvSpPr>
          <p:cNvPr id="6" name="Shape 4"/>
          <p:cNvSpPr/>
          <p:nvPr/>
        </p:nvSpPr>
        <p:spPr>
          <a:xfrm>
            <a:off x="640080" y="1645920"/>
            <a:ext cx="7863840" cy="457200"/>
          </a:xfrm>
          <a:prstGeom prst="roundRect">
            <a:avLst>
              <a:gd name="adj" fmla="val 12000"/>
            </a:avLst>
          </a:prstGeom>
          <a:solidFill>
            <a:srgbClr val="FFFFFF">
              <a:alpha val="85000"/>
            </a:srgbClr>
          </a:solidFill>
          <a:ln/>
        </p:spPr>
      </p:sp>
      <p:sp>
        <p:nvSpPr>
          <p:cNvPr id="7" name="Text 5"/>
          <p:cNvSpPr/>
          <p:nvPr/>
        </p:nvSpPr>
        <p:spPr>
          <a:xfrm>
            <a:off x="822960" y="1645920"/>
            <a:ext cx="137160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Semana 1</a:t>
            </a:r>
            <a:endParaRPr lang="en-US" sz="1200" dirty="0"/>
          </a:p>
        </p:txBody>
      </p:sp>
      <p:sp>
        <p:nvSpPr>
          <p:cNvPr id="8" name="Text 6"/>
          <p:cNvSpPr/>
          <p:nvPr/>
        </p:nvSpPr>
        <p:spPr>
          <a:xfrm>
            <a:off x="2286000" y="1645920"/>
            <a:ext cx="6035040" cy="457200"/>
          </a:xfrm>
          <a:prstGeom prst="rect">
            <a:avLst/>
          </a:prstGeom>
          <a:noFill/>
          <a:ln/>
        </p:spPr>
        <p:txBody>
          <a:bodyPr wrap="square" rtlCol="0" anchor="ctr"/>
          <a:lstStyle/>
          <a:p>
            <a:pPr indent="0" marL="0">
              <a:buNone/>
            </a:pPr>
            <a:r>
              <a:rPr lang="en-US" sz="1100" dirty="0">
                <a:solidFill>
                  <a:srgbClr val="1C213C"/>
                </a:solidFill>
                <a:latin typeface="Arial" pitchFamily="34" charset="0"/>
                <a:ea typeface="Arial" pitchFamily="34" charset="-122"/>
                <a:cs typeface="Arial" pitchFamily="34" charset="-120"/>
              </a:rPr>
              <a:t>Clase introductoria: el profesor presenta el simulador a los estudiantes.</a:t>
            </a:r>
            <a:endParaRPr lang="en-US" sz="1100" dirty="0"/>
          </a:p>
        </p:txBody>
      </p:sp>
      <p:sp>
        <p:nvSpPr>
          <p:cNvPr id="9" name="Shape 7"/>
          <p:cNvSpPr/>
          <p:nvPr/>
        </p:nvSpPr>
        <p:spPr>
          <a:xfrm>
            <a:off x="640080" y="2194560"/>
            <a:ext cx="7863840" cy="457200"/>
          </a:xfrm>
          <a:prstGeom prst="roundRect">
            <a:avLst>
              <a:gd name="adj" fmla="val 12000"/>
            </a:avLst>
          </a:prstGeom>
          <a:solidFill>
            <a:srgbClr val="FFFFFF">
              <a:alpha val="85000"/>
            </a:srgbClr>
          </a:solidFill>
          <a:ln/>
        </p:spPr>
      </p:sp>
      <p:sp>
        <p:nvSpPr>
          <p:cNvPr id="10" name="Text 8"/>
          <p:cNvSpPr/>
          <p:nvPr/>
        </p:nvSpPr>
        <p:spPr>
          <a:xfrm>
            <a:off x="822960" y="2194560"/>
            <a:ext cx="137160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Semana 2-3</a:t>
            </a:r>
            <a:endParaRPr lang="en-US" sz="1200" dirty="0"/>
          </a:p>
        </p:txBody>
      </p:sp>
      <p:sp>
        <p:nvSpPr>
          <p:cNvPr id="11" name="Text 9"/>
          <p:cNvSpPr/>
          <p:nvPr/>
        </p:nvSpPr>
        <p:spPr>
          <a:xfrm>
            <a:off x="2286000" y="2194560"/>
            <a:ext cx="6035040" cy="457200"/>
          </a:xfrm>
          <a:prstGeom prst="rect">
            <a:avLst/>
          </a:prstGeom>
          <a:noFill/>
          <a:ln/>
        </p:spPr>
        <p:txBody>
          <a:bodyPr wrap="square" rtlCol="0" anchor="ctr"/>
          <a:lstStyle/>
          <a:p>
            <a:pPr indent="0" marL="0">
              <a:buNone/>
            </a:pPr>
            <a:r>
              <a:rPr lang="en-US" sz="1100" dirty="0">
                <a:solidFill>
                  <a:srgbClr val="1C213C"/>
                </a:solidFill>
                <a:latin typeface="Arial" pitchFamily="34" charset="0"/>
                <a:ea typeface="Arial" pitchFamily="34" charset="-122"/>
                <a:cs typeface="Arial" pitchFamily="34" charset="-120"/>
              </a:rPr>
              <a:t>Ronda de práctica (sin nota). Los estudiantes se familiarizan con la interfaz.</a:t>
            </a:r>
            <a:endParaRPr lang="en-US" sz="1100" dirty="0"/>
          </a:p>
        </p:txBody>
      </p:sp>
      <p:sp>
        <p:nvSpPr>
          <p:cNvPr id="12" name="Shape 10"/>
          <p:cNvSpPr/>
          <p:nvPr/>
        </p:nvSpPr>
        <p:spPr>
          <a:xfrm>
            <a:off x="640080" y="2743200"/>
            <a:ext cx="7863840" cy="457200"/>
          </a:xfrm>
          <a:prstGeom prst="roundRect">
            <a:avLst>
              <a:gd name="adj" fmla="val 12000"/>
            </a:avLst>
          </a:prstGeom>
          <a:solidFill>
            <a:srgbClr val="FFFFFF">
              <a:alpha val="85000"/>
            </a:srgbClr>
          </a:solidFill>
          <a:ln/>
        </p:spPr>
      </p:sp>
      <p:sp>
        <p:nvSpPr>
          <p:cNvPr id="13" name="Text 11"/>
          <p:cNvSpPr/>
          <p:nvPr/>
        </p:nvSpPr>
        <p:spPr>
          <a:xfrm>
            <a:off x="822960" y="2743200"/>
            <a:ext cx="137160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Semana 4-11</a:t>
            </a:r>
            <a:endParaRPr lang="en-US" sz="1200" dirty="0"/>
          </a:p>
        </p:txBody>
      </p:sp>
      <p:sp>
        <p:nvSpPr>
          <p:cNvPr id="14" name="Text 12"/>
          <p:cNvSpPr/>
          <p:nvPr/>
        </p:nvSpPr>
        <p:spPr>
          <a:xfrm>
            <a:off x="2286000" y="2743200"/>
            <a:ext cx="6035040" cy="457200"/>
          </a:xfrm>
          <a:prstGeom prst="rect">
            <a:avLst/>
          </a:prstGeom>
          <a:noFill/>
          <a:ln/>
        </p:spPr>
        <p:txBody>
          <a:bodyPr wrap="square" rtlCol="0" anchor="ctr"/>
          <a:lstStyle/>
          <a:p>
            <a:pPr indent="0" marL="0">
              <a:buNone/>
            </a:pPr>
            <a:r>
              <a:rPr lang="en-US" sz="1100" dirty="0">
                <a:solidFill>
                  <a:srgbClr val="1C213C"/>
                </a:solidFill>
                <a:latin typeface="Arial" pitchFamily="34" charset="0"/>
                <a:ea typeface="Arial" pitchFamily="34" charset="-122"/>
                <a:cs typeface="Arial" pitchFamily="34" charset="-120"/>
              </a:rPr>
              <a:t>Rondas 1-8 (con nota). Una ronda por semana. Discusión post-ronda en clase.</a:t>
            </a:r>
            <a:endParaRPr lang="en-US" sz="1100" dirty="0"/>
          </a:p>
        </p:txBody>
      </p:sp>
      <p:sp>
        <p:nvSpPr>
          <p:cNvPr id="15" name="Shape 13"/>
          <p:cNvSpPr/>
          <p:nvPr/>
        </p:nvSpPr>
        <p:spPr>
          <a:xfrm>
            <a:off x="640080" y="3291840"/>
            <a:ext cx="7863840" cy="457200"/>
          </a:xfrm>
          <a:prstGeom prst="roundRect">
            <a:avLst>
              <a:gd name="adj" fmla="val 12000"/>
            </a:avLst>
          </a:prstGeom>
          <a:solidFill>
            <a:srgbClr val="FFFFFF">
              <a:alpha val="85000"/>
            </a:srgbClr>
          </a:solidFill>
          <a:ln/>
        </p:spPr>
      </p:sp>
      <p:sp>
        <p:nvSpPr>
          <p:cNvPr id="16" name="Text 14"/>
          <p:cNvSpPr/>
          <p:nvPr/>
        </p:nvSpPr>
        <p:spPr>
          <a:xfrm>
            <a:off x="822960" y="3291840"/>
            <a:ext cx="137160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Semana 12</a:t>
            </a:r>
            <a:endParaRPr lang="en-US" sz="1200" dirty="0"/>
          </a:p>
        </p:txBody>
      </p:sp>
      <p:sp>
        <p:nvSpPr>
          <p:cNvPr id="17" name="Text 15"/>
          <p:cNvSpPr/>
          <p:nvPr/>
        </p:nvSpPr>
        <p:spPr>
          <a:xfrm>
            <a:off x="2286000" y="3291840"/>
            <a:ext cx="6035040" cy="457200"/>
          </a:xfrm>
          <a:prstGeom prst="rect">
            <a:avLst/>
          </a:prstGeom>
          <a:noFill/>
          <a:ln/>
        </p:spPr>
        <p:txBody>
          <a:bodyPr wrap="square" rtlCol="0" anchor="ctr"/>
          <a:lstStyle/>
          <a:p>
            <a:pPr indent="0" marL="0">
              <a:buNone/>
            </a:pPr>
            <a:r>
              <a:rPr lang="en-US" sz="1100" dirty="0">
                <a:solidFill>
                  <a:srgbClr val="1C213C"/>
                </a:solidFill>
                <a:latin typeface="Arial" pitchFamily="34" charset="0"/>
                <a:ea typeface="Arial" pitchFamily="34" charset="-122"/>
                <a:cs typeface="Arial" pitchFamily="34" charset="-120"/>
              </a:rPr>
              <a:t>Presentación final: cada equipo presenta su estrategia (board meeting).</a:t>
            </a:r>
            <a:endParaRPr lang="en-US" sz="1100" dirty="0"/>
          </a:p>
        </p:txBody>
      </p:sp>
      <p:sp>
        <p:nvSpPr>
          <p:cNvPr id="18" name="Shape 16"/>
          <p:cNvSpPr/>
          <p:nvPr/>
        </p:nvSpPr>
        <p:spPr>
          <a:xfrm>
            <a:off x="640080" y="3840480"/>
            <a:ext cx="7863840" cy="457200"/>
          </a:xfrm>
          <a:prstGeom prst="roundRect">
            <a:avLst>
              <a:gd name="adj" fmla="val 12000"/>
            </a:avLst>
          </a:prstGeom>
          <a:solidFill>
            <a:srgbClr val="FFFFFF">
              <a:alpha val="85000"/>
            </a:srgbClr>
          </a:solidFill>
          <a:ln/>
        </p:spPr>
      </p:sp>
      <p:sp>
        <p:nvSpPr>
          <p:cNvPr id="19" name="Text 17"/>
          <p:cNvSpPr/>
          <p:nvPr/>
        </p:nvSpPr>
        <p:spPr>
          <a:xfrm>
            <a:off x="822960" y="3840480"/>
            <a:ext cx="137160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Semana 13</a:t>
            </a:r>
            <a:endParaRPr lang="en-US" sz="1200" dirty="0"/>
          </a:p>
        </p:txBody>
      </p:sp>
      <p:sp>
        <p:nvSpPr>
          <p:cNvPr id="20" name="Text 18"/>
          <p:cNvSpPr/>
          <p:nvPr/>
        </p:nvSpPr>
        <p:spPr>
          <a:xfrm>
            <a:off x="2286000" y="3840480"/>
            <a:ext cx="6035040" cy="457200"/>
          </a:xfrm>
          <a:prstGeom prst="rect">
            <a:avLst/>
          </a:prstGeom>
          <a:noFill/>
          <a:ln/>
        </p:spPr>
        <p:txBody>
          <a:bodyPr wrap="square" rtlCol="0" anchor="ctr"/>
          <a:lstStyle/>
          <a:p>
            <a:pPr indent="0" marL="0">
              <a:buNone/>
            </a:pPr>
            <a:r>
              <a:rPr lang="en-US" sz="1100" dirty="0">
                <a:solidFill>
                  <a:srgbClr val="1C213C"/>
                </a:solidFill>
                <a:latin typeface="Arial" pitchFamily="34" charset="0"/>
                <a:ea typeface="Arial" pitchFamily="34" charset="-122"/>
                <a:cs typeface="Arial" pitchFamily="34" charset="-120"/>
              </a:rPr>
              <a:t>Evaluación: el profesor califica con datos del dashboard + presentación.</a:t>
            </a:r>
            <a:endParaRPr lang="en-US" sz="1100" dirty="0"/>
          </a:p>
        </p:txBody>
      </p:sp>
      <p:sp>
        <p:nvSpPr>
          <p:cNvPr id="21" name="Shape 19"/>
          <p:cNvSpPr/>
          <p:nvPr/>
        </p:nvSpPr>
        <p:spPr>
          <a:xfrm>
            <a:off x="640080" y="4389120"/>
            <a:ext cx="7863840" cy="457200"/>
          </a:xfrm>
          <a:prstGeom prst="roundRect">
            <a:avLst>
              <a:gd name="adj" fmla="val 12000"/>
            </a:avLst>
          </a:prstGeom>
          <a:solidFill>
            <a:srgbClr val="FFFFFF">
              <a:alpha val="85000"/>
            </a:srgbClr>
          </a:solidFill>
          <a:ln/>
        </p:spPr>
      </p:sp>
      <p:sp>
        <p:nvSpPr>
          <p:cNvPr id="22" name="Text 20"/>
          <p:cNvSpPr/>
          <p:nvPr/>
        </p:nvSpPr>
        <p:spPr>
          <a:xfrm>
            <a:off x="822960" y="4389120"/>
            <a:ext cx="137160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Semana 14-16</a:t>
            </a:r>
            <a:endParaRPr lang="en-US" sz="1200" dirty="0"/>
          </a:p>
        </p:txBody>
      </p:sp>
      <p:sp>
        <p:nvSpPr>
          <p:cNvPr id="23" name="Text 21"/>
          <p:cNvSpPr/>
          <p:nvPr/>
        </p:nvSpPr>
        <p:spPr>
          <a:xfrm>
            <a:off x="2286000" y="4389120"/>
            <a:ext cx="6035040" cy="457200"/>
          </a:xfrm>
          <a:prstGeom prst="rect">
            <a:avLst/>
          </a:prstGeom>
          <a:noFill/>
          <a:ln/>
        </p:spPr>
        <p:txBody>
          <a:bodyPr wrap="square" rtlCol="0" anchor="ctr"/>
          <a:lstStyle/>
          <a:p>
            <a:pPr indent="0" marL="0">
              <a:buNone/>
            </a:pPr>
            <a:r>
              <a:rPr lang="en-US" sz="1100" dirty="0">
                <a:solidFill>
                  <a:srgbClr val="1C213C"/>
                </a:solidFill>
                <a:latin typeface="Arial" pitchFamily="34" charset="0"/>
                <a:ea typeface="Arial" pitchFamily="34" charset="-122"/>
                <a:cs typeface="Arial" pitchFamily="34" charset="-120"/>
              </a:rPr>
              <a:t>Resultados y retroalimentación. Recoger métricas para acreditación.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Preocupaciones comunes (y respuestas)</a:t>
            </a:r>
            <a:endParaRPr lang="en-US" sz="2800" dirty="0"/>
          </a:p>
        </p:txBody>
      </p:sp>
      <p:sp>
        <p:nvSpPr>
          <p:cNvPr id="3" name="Shape 1"/>
          <p:cNvSpPr/>
          <p:nvPr/>
        </p:nvSpPr>
        <p:spPr>
          <a:xfrm>
            <a:off x="640080" y="1097280"/>
            <a:ext cx="7863840" cy="685800"/>
          </a:xfrm>
          <a:prstGeom prst="roundRect">
            <a:avLst>
              <a:gd name="adj" fmla="val 10667"/>
            </a:avLst>
          </a:prstGeom>
          <a:solidFill>
            <a:srgbClr val="F5F7FA"/>
          </a:solidFill>
          <a:ln/>
        </p:spPr>
      </p:sp>
      <p:sp>
        <p:nvSpPr>
          <p:cNvPr id="4" name="Text 2"/>
          <p:cNvSpPr/>
          <p:nvPr/>
        </p:nvSpPr>
        <p:spPr>
          <a:xfrm>
            <a:off x="822960" y="1097280"/>
            <a:ext cx="3200400" cy="685800"/>
          </a:xfrm>
          <a:prstGeom prst="rect">
            <a:avLst/>
          </a:prstGeom>
          <a:noFill/>
          <a:ln/>
        </p:spPr>
        <p:txBody>
          <a:bodyPr wrap="square" rtlCol="0" anchor="ctr"/>
          <a:lstStyle/>
          <a:p>
            <a:pPr indent="0" marL="0">
              <a:buNone/>
            </a:pPr>
            <a:r>
              <a:rPr lang="en-US" sz="1200" b="1" i="1" dirty="0">
                <a:solidFill>
                  <a:srgbClr val="1C213C"/>
                </a:solidFill>
                <a:latin typeface="Arial" pitchFamily="34" charset="0"/>
                <a:ea typeface="Arial" pitchFamily="34" charset="-122"/>
                <a:cs typeface="Arial" pitchFamily="34" charset="-120"/>
              </a:rPr>
              <a:t>"No soy experto en tecnología"</a:t>
            </a:r>
            <a:endParaRPr lang="en-US" sz="1200" dirty="0"/>
          </a:p>
        </p:txBody>
      </p:sp>
      <p:sp>
        <p:nvSpPr>
          <p:cNvPr id="5" name="Text 3"/>
          <p:cNvSpPr/>
          <p:nvPr/>
        </p:nvSpPr>
        <p:spPr>
          <a:xfrm>
            <a:off x="4114800" y="1097280"/>
            <a:ext cx="4206240" cy="685800"/>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El simulador es web e intuitivo. La capacitación dura 2 horas. Si sabe usar correo electrónico, puede usar el simulador.</a:t>
            </a:r>
            <a:endParaRPr lang="en-US" sz="1100" dirty="0"/>
          </a:p>
        </p:txBody>
      </p:sp>
      <p:sp>
        <p:nvSpPr>
          <p:cNvPr id="6" name="Shape 4"/>
          <p:cNvSpPr/>
          <p:nvPr/>
        </p:nvSpPr>
        <p:spPr>
          <a:xfrm>
            <a:off x="640080" y="1874520"/>
            <a:ext cx="7863840" cy="685800"/>
          </a:xfrm>
          <a:prstGeom prst="roundRect">
            <a:avLst>
              <a:gd name="adj" fmla="val 10667"/>
            </a:avLst>
          </a:prstGeom>
          <a:solidFill>
            <a:srgbClr val="FFFFFF"/>
          </a:solidFill>
          <a:ln/>
        </p:spPr>
      </p:sp>
      <p:sp>
        <p:nvSpPr>
          <p:cNvPr id="7" name="Text 5"/>
          <p:cNvSpPr/>
          <p:nvPr/>
        </p:nvSpPr>
        <p:spPr>
          <a:xfrm>
            <a:off x="822960" y="1874520"/>
            <a:ext cx="3200400" cy="685800"/>
          </a:xfrm>
          <a:prstGeom prst="rect">
            <a:avLst/>
          </a:prstGeom>
          <a:noFill/>
          <a:ln/>
        </p:spPr>
        <p:txBody>
          <a:bodyPr wrap="square" rtlCol="0" anchor="ctr"/>
          <a:lstStyle/>
          <a:p>
            <a:pPr indent="0" marL="0">
              <a:buNone/>
            </a:pPr>
            <a:r>
              <a:rPr lang="en-US" sz="1200" b="1" i="1" dirty="0">
                <a:solidFill>
                  <a:srgbClr val="1C213C"/>
                </a:solidFill>
                <a:latin typeface="Arial" pitchFamily="34" charset="0"/>
                <a:ea typeface="Arial" pitchFamily="34" charset="-122"/>
                <a:cs typeface="Arial" pitchFamily="34" charset="-120"/>
              </a:rPr>
              <a:t>"No hay presupuesto"</a:t>
            </a:r>
            <a:endParaRPr lang="en-US" sz="1200" dirty="0"/>
          </a:p>
        </p:txBody>
      </p:sp>
      <p:sp>
        <p:nvSpPr>
          <p:cNvPr id="8" name="Text 6"/>
          <p:cNvSpPr/>
          <p:nvPr/>
        </p:nvSpPr>
        <p:spPr>
          <a:xfrm>
            <a:off x="4114800" y="1874520"/>
            <a:ext cx="4206240" cy="685800"/>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El piloto es 100% gratuito. Si funciona, los resultados justifican la inversión. Hay modelos desde $XX.000 por estudiante.</a:t>
            </a:r>
            <a:endParaRPr lang="en-US" sz="1100" dirty="0"/>
          </a:p>
        </p:txBody>
      </p:sp>
      <p:sp>
        <p:nvSpPr>
          <p:cNvPr id="9" name="Shape 7"/>
          <p:cNvSpPr/>
          <p:nvPr/>
        </p:nvSpPr>
        <p:spPr>
          <a:xfrm>
            <a:off x="640080" y="2651760"/>
            <a:ext cx="7863840" cy="685800"/>
          </a:xfrm>
          <a:prstGeom prst="roundRect">
            <a:avLst>
              <a:gd name="adj" fmla="val 10667"/>
            </a:avLst>
          </a:prstGeom>
          <a:solidFill>
            <a:srgbClr val="F5F7FA"/>
          </a:solidFill>
          <a:ln/>
        </p:spPr>
      </p:sp>
      <p:sp>
        <p:nvSpPr>
          <p:cNvPr id="10" name="Text 8"/>
          <p:cNvSpPr/>
          <p:nvPr/>
        </p:nvSpPr>
        <p:spPr>
          <a:xfrm>
            <a:off x="822960" y="2651760"/>
            <a:ext cx="3200400" cy="685800"/>
          </a:xfrm>
          <a:prstGeom prst="rect">
            <a:avLst/>
          </a:prstGeom>
          <a:noFill/>
          <a:ln/>
        </p:spPr>
        <p:txBody>
          <a:bodyPr wrap="square" rtlCol="0" anchor="ctr"/>
          <a:lstStyle/>
          <a:p>
            <a:pPr indent="0" marL="0">
              <a:buNone/>
            </a:pPr>
            <a:r>
              <a:rPr lang="en-US" sz="1200" b="1" i="1" dirty="0">
                <a:solidFill>
                  <a:srgbClr val="1C213C"/>
                </a:solidFill>
                <a:latin typeface="Arial" pitchFamily="34" charset="0"/>
                <a:ea typeface="Arial" pitchFamily="34" charset="-122"/>
                <a:cs typeface="Arial" pitchFamily="34" charset="-120"/>
              </a:rPr>
              <a:t>"Ya usamos otro simulador"</a:t>
            </a:r>
            <a:endParaRPr lang="en-US" sz="1200" dirty="0"/>
          </a:p>
        </p:txBody>
      </p:sp>
      <p:sp>
        <p:nvSpPr>
          <p:cNvPr id="11" name="Text 9"/>
          <p:cNvSpPr/>
          <p:nvPr/>
        </p:nvSpPr>
        <p:spPr>
          <a:xfrm>
            <a:off x="4114800" y="2651760"/>
            <a:ext cx="4206240" cy="685800"/>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Nuestros simuladores complementan lo que tienen. ¿Emprendimiento? SimVenture. ¿Proyectos? SimProject. Son nichos diferentes.</a:t>
            </a:r>
            <a:endParaRPr lang="en-US" sz="1100" dirty="0"/>
          </a:p>
        </p:txBody>
      </p:sp>
      <p:sp>
        <p:nvSpPr>
          <p:cNvPr id="12" name="Shape 10"/>
          <p:cNvSpPr/>
          <p:nvPr/>
        </p:nvSpPr>
        <p:spPr>
          <a:xfrm>
            <a:off x="640080" y="3429000"/>
            <a:ext cx="7863840" cy="685800"/>
          </a:xfrm>
          <a:prstGeom prst="roundRect">
            <a:avLst>
              <a:gd name="adj" fmla="val 10667"/>
            </a:avLst>
          </a:prstGeom>
          <a:solidFill>
            <a:srgbClr val="FFFFFF"/>
          </a:solidFill>
          <a:ln/>
        </p:spPr>
      </p:sp>
      <p:sp>
        <p:nvSpPr>
          <p:cNvPr id="13" name="Text 11"/>
          <p:cNvSpPr/>
          <p:nvPr/>
        </p:nvSpPr>
        <p:spPr>
          <a:xfrm>
            <a:off x="822960" y="3429000"/>
            <a:ext cx="3200400" cy="685800"/>
          </a:xfrm>
          <a:prstGeom prst="rect">
            <a:avLst/>
          </a:prstGeom>
          <a:noFill/>
          <a:ln/>
        </p:spPr>
        <p:txBody>
          <a:bodyPr wrap="square" rtlCol="0" anchor="ctr"/>
          <a:lstStyle/>
          <a:p>
            <a:pPr indent="0" marL="0">
              <a:buNone/>
            </a:pPr>
            <a:r>
              <a:rPr lang="en-US" sz="1200" b="1" i="1" dirty="0">
                <a:solidFill>
                  <a:srgbClr val="1C213C"/>
                </a:solidFill>
                <a:latin typeface="Arial" pitchFamily="34" charset="0"/>
                <a:ea typeface="Arial" pitchFamily="34" charset="-122"/>
                <a:cs typeface="Arial" pitchFamily="34" charset="-120"/>
              </a:rPr>
              <a:t>"Los estudiantes no van a tomarlo en serio"</a:t>
            </a:r>
            <a:endParaRPr lang="en-US" sz="1200" dirty="0"/>
          </a:p>
        </p:txBody>
      </p:sp>
      <p:sp>
        <p:nvSpPr>
          <p:cNvPr id="14" name="Text 12"/>
          <p:cNvSpPr/>
          <p:nvPr/>
        </p:nvSpPr>
        <p:spPr>
          <a:xfrm>
            <a:off x="4114800" y="3429000"/>
            <a:ext cx="4206240" cy="685800"/>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La competencia entre equipos genera motivación natural. El ranking es público. Los estudiantes se enganchan desde la primera ronda.</a:t>
            </a:r>
            <a:endParaRPr lang="en-US" sz="1100" dirty="0"/>
          </a:p>
        </p:txBody>
      </p:sp>
      <p:sp>
        <p:nvSpPr>
          <p:cNvPr id="15" name="Shape 13"/>
          <p:cNvSpPr/>
          <p:nvPr/>
        </p:nvSpPr>
        <p:spPr>
          <a:xfrm>
            <a:off x="640080" y="4206240"/>
            <a:ext cx="7863840" cy="685800"/>
          </a:xfrm>
          <a:prstGeom prst="roundRect">
            <a:avLst>
              <a:gd name="adj" fmla="val 10667"/>
            </a:avLst>
          </a:prstGeom>
          <a:solidFill>
            <a:srgbClr val="F5F7FA"/>
          </a:solidFill>
          <a:ln/>
        </p:spPr>
      </p:sp>
      <p:sp>
        <p:nvSpPr>
          <p:cNvPr id="16" name="Text 14"/>
          <p:cNvSpPr/>
          <p:nvPr/>
        </p:nvSpPr>
        <p:spPr>
          <a:xfrm>
            <a:off x="822960" y="4206240"/>
            <a:ext cx="3200400" cy="685800"/>
          </a:xfrm>
          <a:prstGeom prst="rect">
            <a:avLst/>
          </a:prstGeom>
          <a:noFill/>
          <a:ln/>
        </p:spPr>
        <p:txBody>
          <a:bodyPr wrap="square" rtlCol="0" anchor="ctr"/>
          <a:lstStyle/>
          <a:p>
            <a:pPr indent="0" marL="0">
              <a:buNone/>
            </a:pPr>
            <a:r>
              <a:rPr lang="en-US" sz="1200" b="1" i="1" dirty="0">
                <a:solidFill>
                  <a:srgbClr val="1C213C"/>
                </a:solidFill>
                <a:latin typeface="Arial" pitchFamily="34" charset="0"/>
                <a:ea typeface="Arial" pitchFamily="34" charset="-122"/>
                <a:cs typeface="Arial" pitchFamily="34" charset="-120"/>
              </a:rPr>
              <a:t>"No tengo tiempo para cambiar mi curso"</a:t>
            </a:r>
            <a:endParaRPr lang="en-US" sz="1200" dirty="0"/>
          </a:p>
        </p:txBody>
      </p:sp>
      <p:sp>
        <p:nvSpPr>
          <p:cNvPr id="17" name="Text 15"/>
          <p:cNvSpPr/>
          <p:nvPr/>
        </p:nvSpPr>
        <p:spPr>
          <a:xfrm>
            <a:off x="4114800" y="4206240"/>
            <a:ext cx="4206240" cy="685800"/>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No necesita cambiar el curso: el simulador se integra como herramienta dentro de la asignatura existente. 1h/semana de su tiempo.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C213C"/>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Resultados reales</a:t>
            </a:r>
            <a:endParaRPr lang="en-US" sz="2800" dirty="0"/>
          </a:p>
        </p:txBody>
      </p:sp>
      <p:sp>
        <p:nvSpPr>
          <p:cNvPr id="3" name="Shape 1"/>
          <p:cNvSpPr/>
          <p:nvPr/>
        </p:nvSpPr>
        <p:spPr>
          <a:xfrm>
            <a:off x="457200" y="1188720"/>
            <a:ext cx="1965960" cy="3200400"/>
          </a:xfrm>
          <a:prstGeom prst="roundRect">
            <a:avLst>
              <a:gd name="adj" fmla="val 6977"/>
            </a:avLst>
          </a:prstGeom>
          <a:solidFill>
            <a:srgbClr val="49C5B1">
              <a:alpha val="80000"/>
            </a:srgbClr>
          </a:solidFill>
          <a:ln/>
        </p:spPr>
      </p:sp>
      <p:sp>
        <p:nvSpPr>
          <p:cNvPr id="4" name="Text 2"/>
          <p:cNvSpPr/>
          <p:nvPr/>
        </p:nvSpPr>
        <p:spPr>
          <a:xfrm>
            <a:off x="457200" y="1463040"/>
            <a:ext cx="1965960" cy="1371600"/>
          </a:xfrm>
          <a:prstGeom prst="rect">
            <a:avLst/>
          </a:prstGeom>
          <a:noFill/>
          <a:ln/>
        </p:spPr>
        <p:txBody>
          <a:bodyPr wrap="square" rtlCol="0" anchor="ctr"/>
          <a:lstStyle/>
          <a:p>
            <a:pPr algn="ctr" indent="0" marL="0">
              <a:buNone/>
            </a:pPr>
            <a:r>
              <a:rPr lang="en-US" sz="4200" b="1" dirty="0">
                <a:solidFill>
                  <a:srgbClr val="49C5B1"/>
                </a:solidFill>
                <a:latin typeface="Arial" pitchFamily="34" charset="0"/>
                <a:ea typeface="Arial" pitchFamily="34" charset="-122"/>
                <a:cs typeface="Arial" pitchFamily="34" charset="-120"/>
              </a:rPr>
              <a:t> 4.2</a:t>
            </a:r>
            <a:endParaRPr lang="en-US" sz="4200" dirty="0"/>
          </a:p>
          <a:p>
            <a:pPr algn="ctr" indent="0" marL="0">
              <a:buNone/>
            </a:pPr>
            <a:r>
              <a:rPr lang="en-US" sz="4200" b="1" dirty="0">
                <a:solidFill>
                  <a:srgbClr val="49C5B1"/>
                </a:solidFill>
                <a:latin typeface="Arial" pitchFamily="34" charset="0"/>
                <a:ea typeface="Arial" pitchFamily="34" charset="-122"/>
                <a:cs typeface="Arial" pitchFamily="34" charset="-120"/>
              </a:rPr>
              <a:t>/5.0</a:t>
            </a:r>
            <a:endParaRPr lang="en-US" sz="4200" dirty="0"/>
          </a:p>
        </p:txBody>
      </p:sp>
      <p:sp>
        <p:nvSpPr>
          <p:cNvPr id="5" name="Text 3"/>
          <p:cNvSpPr/>
          <p:nvPr/>
        </p:nvSpPr>
        <p:spPr>
          <a:xfrm>
            <a:off x="457200" y="2926080"/>
            <a:ext cx="1965960" cy="91440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Nota promedio</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componente práctico</a:t>
            </a:r>
            <a:endParaRPr lang="en-US" sz="1300" dirty="0"/>
          </a:p>
        </p:txBody>
      </p:sp>
      <p:sp>
        <p:nvSpPr>
          <p:cNvPr id="6" name="Shape 4"/>
          <p:cNvSpPr/>
          <p:nvPr/>
        </p:nvSpPr>
        <p:spPr>
          <a:xfrm>
            <a:off x="2606040" y="1188720"/>
            <a:ext cx="1965960" cy="3200400"/>
          </a:xfrm>
          <a:prstGeom prst="roundRect">
            <a:avLst>
              <a:gd name="adj" fmla="val 6977"/>
            </a:avLst>
          </a:prstGeom>
          <a:solidFill>
            <a:srgbClr val="49C5B1">
              <a:alpha val="80000"/>
            </a:srgbClr>
          </a:solidFill>
          <a:ln/>
        </p:spPr>
      </p:sp>
      <p:sp>
        <p:nvSpPr>
          <p:cNvPr id="7" name="Text 5"/>
          <p:cNvSpPr/>
          <p:nvPr/>
        </p:nvSpPr>
        <p:spPr>
          <a:xfrm>
            <a:off x="2606040" y="1463040"/>
            <a:ext cx="1965960" cy="1371600"/>
          </a:xfrm>
          <a:prstGeom prst="rect">
            <a:avLst/>
          </a:prstGeom>
          <a:noFill/>
          <a:ln/>
        </p:spPr>
        <p:txBody>
          <a:bodyPr wrap="square" rtlCol="0" anchor="ctr"/>
          <a:lstStyle/>
          <a:p>
            <a:pPr algn="ctr" indent="0" marL="0">
              <a:buNone/>
            </a:pPr>
            <a:r>
              <a:rPr lang="en-US" sz="4200" b="1" dirty="0">
                <a:solidFill>
                  <a:srgbClr val="49C5B1"/>
                </a:solidFill>
                <a:latin typeface="Arial" pitchFamily="34" charset="0"/>
                <a:ea typeface="Arial" pitchFamily="34" charset="-122"/>
                <a:cs typeface="Arial" pitchFamily="34" charset="-120"/>
              </a:rPr>
              <a:t> 92%</a:t>
            </a:r>
            <a:endParaRPr lang="en-US" sz="4200" dirty="0"/>
          </a:p>
        </p:txBody>
      </p:sp>
      <p:sp>
        <p:nvSpPr>
          <p:cNvPr id="8" name="Text 6"/>
          <p:cNvSpPr/>
          <p:nvPr/>
        </p:nvSpPr>
        <p:spPr>
          <a:xfrm>
            <a:off x="2606040" y="2926080"/>
            <a:ext cx="1965960" cy="91440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Satisfacción</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estudiantil</a:t>
            </a:r>
            <a:endParaRPr lang="en-US" sz="1300" dirty="0"/>
          </a:p>
        </p:txBody>
      </p:sp>
      <p:sp>
        <p:nvSpPr>
          <p:cNvPr id="9" name="Shape 7"/>
          <p:cNvSpPr/>
          <p:nvPr/>
        </p:nvSpPr>
        <p:spPr>
          <a:xfrm>
            <a:off x="4754880" y="1188720"/>
            <a:ext cx="1965960" cy="3200400"/>
          </a:xfrm>
          <a:prstGeom prst="roundRect">
            <a:avLst>
              <a:gd name="adj" fmla="val 6977"/>
            </a:avLst>
          </a:prstGeom>
          <a:solidFill>
            <a:srgbClr val="49C5B1">
              <a:alpha val="80000"/>
            </a:srgbClr>
          </a:solidFill>
          <a:ln/>
        </p:spPr>
      </p:sp>
      <p:sp>
        <p:nvSpPr>
          <p:cNvPr id="10" name="Text 8"/>
          <p:cNvSpPr/>
          <p:nvPr/>
        </p:nvSpPr>
        <p:spPr>
          <a:xfrm>
            <a:off x="4754880" y="1463040"/>
            <a:ext cx="1965960" cy="1371600"/>
          </a:xfrm>
          <a:prstGeom prst="rect">
            <a:avLst/>
          </a:prstGeom>
          <a:noFill/>
          <a:ln/>
        </p:spPr>
        <p:txBody>
          <a:bodyPr wrap="square" rtlCol="0" anchor="ctr"/>
          <a:lstStyle/>
          <a:p>
            <a:pPr algn="ctr" indent="0" marL="0">
              <a:buNone/>
            </a:pPr>
            <a:r>
              <a:rPr lang="en-US" sz="4200" b="1" dirty="0">
                <a:solidFill>
                  <a:srgbClr val="49C5B1"/>
                </a:solidFill>
                <a:latin typeface="Arial" pitchFamily="34" charset="0"/>
                <a:ea typeface="Arial" pitchFamily="34" charset="-122"/>
                <a:cs typeface="Arial" pitchFamily="34" charset="-120"/>
              </a:rPr>
              <a:t> 3x</a:t>
            </a:r>
            <a:endParaRPr lang="en-US" sz="4200" dirty="0"/>
          </a:p>
        </p:txBody>
      </p:sp>
      <p:sp>
        <p:nvSpPr>
          <p:cNvPr id="11" name="Text 9"/>
          <p:cNvSpPr/>
          <p:nvPr/>
        </p:nvSpPr>
        <p:spPr>
          <a:xfrm>
            <a:off x="4754880" y="2926080"/>
            <a:ext cx="1965960" cy="91440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Profesores pidieron</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usar el simulador</a:t>
            </a:r>
            <a:endParaRPr lang="en-US" sz="1300" dirty="0"/>
          </a:p>
        </p:txBody>
      </p:sp>
      <p:sp>
        <p:nvSpPr>
          <p:cNvPr id="12" name="Shape 10"/>
          <p:cNvSpPr/>
          <p:nvPr/>
        </p:nvSpPr>
        <p:spPr>
          <a:xfrm>
            <a:off x="6903720" y="1188720"/>
            <a:ext cx="1965960" cy="3200400"/>
          </a:xfrm>
          <a:prstGeom prst="roundRect">
            <a:avLst>
              <a:gd name="adj" fmla="val 6977"/>
            </a:avLst>
          </a:prstGeom>
          <a:solidFill>
            <a:srgbClr val="49C5B1">
              <a:alpha val="80000"/>
            </a:srgbClr>
          </a:solidFill>
          <a:ln/>
        </p:spPr>
      </p:sp>
      <p:sp>
        <p:nvSpPr>
          <p:cNvPr id="13" name="Text 11"/>
          <p:cNvSpPr/>
          <p:nvPr/>
        </p:nvSpPr>
        <p:spPr>
          <a:xfrm>
            <a:off x="6903720" y="1463040"/>
            <a:ext cx="1965960" cy="1371600"/>
          </a:xfrm>
          <a:prstGeom prst="rect">
            <a:avLst/>
          </a:prstGeom>
          <a:noFill/>
          <a:ln/>
        </p:spPr>
        <p:txBody>
          <a:bodyPr wrap="square" rtlCol="0" anchor="ctr"/>
          <a:lstStyle/>
          <a:p>
            <a:pPr algn="ctr" indent="0" marL="0">
              <a:buNone/>
            </a:pPr>
            <a:r>
              <a:rPr lang="en-US" sz="4200" b="1" dirty="0">
                <a:solidFill>
                  <a:srgbClr val="49C5B1"/>
                </a:solidFill>
                <a:latin typeface="Arial" pitchFamily="34" charset="0"/>
                <a:ea typeface="Arial" pitchFamily="34" charset="-122"/>
                <a:cs typeface="Arial" pitchFamily="34" charset="-120"/>
              </a:rPr>
              <a:t> 85%</a:t>
            </a:r>
            <a:endParaRPr lang="en-US" sz="4200" dirty="0"/>
          </a:p>
        </p:txBody>
      </p:sp>
      <p:sp>
        <p:nvSpPr>
          <p:cNvPr id="14" name="Text 12"/>
          <p:cNvSpPr/>
          <p:nvPr/>
        </p:nvSpPr>
        <p:spPr>
          <a:xfrm>
            <a:off x="6903720" y="2926080"/>
            <a:ext cx="1965960" cy="91440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De pilotos se</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convierten en licencias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Caso de éxito: Dirección Estratégica</a:t>
            </a:r>
            <a:endParaRPr lang="en-US" sz="2800" dirty="0"/>
          </a:p>
        </p:txBody>
      </p:sp>
      <p:sp>
        <p:nvSpPr>
          <p:cNvPr id="3" name="Shape 1"/>
          <p:cNvSpPr/>
          <p:nvPr/>
        </p:nvSpPr>
        <p:spPr>
          <a:xfrm>
            <a:off x="640080" y="1097280"/>
            <a:ext cx="7863840" cy="3657600"/>
          </a:xfrm>
          <a:prstGeom prst="roundRect">
            <a:avLst>
              <a:gd name="adj" fmla="val 3000"/>
            </a:avLst>
          </a:prstGeom>
          <a:solidFill>
            <a:srgbClr val="F5F7FA"/>
          </a:solidFill>
          <a:ln/>
        </p:spPr>
      </p:sp>
      <p:sp>
        <p:nvSpPr>
          <p:cNvPr id="4" name="Text 2"/>
          <p:cNvSpPr/>
          <p:nvPr/>
        </p:nvSpPr>
        <p:spPr>
          <a:xfrm>
            <a:off x="822960" y="1280160"/>
            <a:ext cx="2743200" cy="274320"/>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Contexto</a:t>
            </a:r>
            <a:endParaRPr lang="en-US" sz="1300" dirty="0"/>
          </a:p>
        </p:txBody>
      </p:sp>
      <p:sp>
        <p:nvSpPr>
          <p:cNvPr id="5" name="Text 3"/>
          <p:cNvSpPr/>
          <p:nvPr/>
        </p:nvSpPr>
        <p:spPr>
          <a:xfrm>
            <a:off x="822960" y="1554480"/>
            <a:ext cx="3657600" cy="731520"/>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Profesor de Dirección Estratégica, programa de Administración. 35 estudiantes, 8vo semestre. Antes usaba solo casos de Harvard.</a:t>
            </a:r>
            <a:endParaRPr lang="en-US" sz="1100" dirty="0"/>
          </a:p>
        </p:txBody>
      </p:sp>
      <p:sp>
        <p:nvSpPr>
          <p:cNvPr id="6" name="Text 4"/>
          <p:cNvSpPr/>
          <p:nvPr/>
        </p:nvSpPr>
        <p:spPr>
          <a:xfrm>
            <a:off x="822960" y="2377440"/>
            <a:ext cx="2743200" cy="274320"/>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Implementación</a:t>
            </a:r>
            <a:endParaRPr lang="en-US" sz="1300" dirty="0"/>
          </a:p>
        </p:txBody>
      </p:sp>
      <p:sp>
        <p:nvSpPr>
          <p:cNvPr id="7" name="Text 5"/>
          <p:cNvSpPr/>
          <p:nvPr/>
        </p:nvSpPr>
        <p:spPr>
          <a:xfrm>
            <a:off x="822960" y="2651760"/>
            <a:ext cx="3657600" cy="822960"/>
          </a:xfrm>
          <a:prstGeom prst="rect">
            <a:avLst/>
          </a:prstGeom>
          <a:noFill/>
          <a:ln/>
        </p:spPr>
        <p:txBody>
          <a:bodyPr wrap="square" rtlCol="0" anchor="ctr"/>
          <a:lstStyle/>
          <a:p>
            <a:pPr indent="0" marL="0">
              <a:buNone/>
            </a:pPr>
            <a:r>
              <a:rPr lang="en-US" sz="1100" dirty="0">
                <a:solidFill>
                  <a:srgbClr val="5A5F70"/>
                </a:solidFill>
                <a:latin typeface="Arial" pitchFamily="34" charset="0"/>
                <a:ea typeface="Arial" pitchFamily="34" charset="-122"/>
                <a:cs typeface="Arial" pitchFamily="34" charset="-120"/>
              </a:rPr>
              <a:t>Integró CompanyGame como 40% de la evaluación. 8 rondas durante 8 semanas. Discusión post-ronda de 20 min cada clase. Presentación final tipo board meeting.</a:t>
            </a:r>
            <a:endParaRPr lang="en-US" sz="1100" dirty="0"/>
          </a:p>
        </p:txBody>
      </p:sp>
      <p:sp>
        <p:nvSpPr>
          <p:cNvPr id="8" name="Text 6"/>
          <p:cNvSpPr/>
          <p:nvPr/>
        </p:nvSpPr>
        <p:spPr>
          <a:xfrm>
            <a:off x="4846320" y="1280160"/>
            <a:ext cx="2743200" cy="274320"/>
          </a:xfrm>
          <a:prstGeom prst="rect">
            <a:avLst/>
          </a:prstGeom>
          <a:noFill/>
          <a:ln/>
        </p:spPr>
        <p:txBody>
          <a:bodyPr wrap="square" rtlCol="0" anchor="ctr"/>
          <a:lstStyle/>
          <a:p>
            <a:pPr indent="0" marL="0">
              <a:buNone/>
            </a:pPr>
            <a:r>
              <a:rPr lang="en-US" sz="1300" b="1" dirty="0">
                <a:solidFill>
                  <a:srgbClr val="49C5B1"/>
                </a:solidFill>
                <a:latin typeface="Arial" pitchFamily="34" charset="0"/>
                <a:ea typeface="Arial" pitchFamily="34" charset="-122"/>
                <a:cs typeface="Arial" pitchFamily="34" charset="-120"/>
              </a:rPr>
              <a:t>Resultados</a:t>
            </a:r>
            <a:endParaRPr lang="en-US" sz="1300" dirty="0"/>
          </a:p>
        </p:txBody>
      </p:sp>
      <p:pic>
        <p:nvPicPr>
          <p:cNvPr id="9" name="Image 0" descr="preencoded.png">    </p:cNvPr>
          <p:cNvPicPr>
            <a:picLocks noChangeAspect="1"/>
          </p:cNvPicPr>
          <p:nvPr/>
        </p:nvPicPr>
        <p:blipFill>
          <a:blip r:embed="rId1"/>
          <a:stretch>
            <a:fillRect/>
          </a:stretch>
        </p:blipFill>
        <p:spPr>
          <a:xfrm>
            <a:off x="4846320" y="1691640"/>
            <a:ext cx="228600" cy="228600"/>
          </a:xfrm>
          <a:prstGeom prst="rect">
            <a:avLst/>
          </a:prstGeom>
        </p:spPr>
      </p:pic>
      <p:sp>
        <p:nvSpPr>
          <p:cNvPr id="10" name="Text 7"/>
          <p:cNvSpPr/>
          <p:nvPr/>
        </p:nvSpPr>
        <p:spPr>
          <a:xfrm>
            <a:off x="5212080" y="1645920"/>
            <a:ext cx="1828800" cy="274320"/>
          </a:xfrm>
          <a:prstGeom prst="rect">
            <a:avLst/>
          </a:prstGeom>
          <a:noFill/>
          <a:ln/>
        </p:spPr>
        <p:txBody>
          <a:bodyPr wrap="square" lIns="0" tIns="0" rIns="0" bIns="0" rtlCol="0" anchor="ctr"/>
          <a:lstStyle/>
          <a:p>
            <a:pPr indent="0" marL="0">
              <a:buNone/>
            </a:pPr>
            <a:r>
              <a:rPr lang="en-US" sz="1100" b="1" dirty="0">
                <a:solidFill>
                  <a:srgbClr val="1C213C"/>
                </a:solidFill>
                <a:latin typeface="Arial" pitchFamily="34" charset="0"/>
                <a:ea typeface="Arial" pitchFamily="34" charset="-122"/>
                <a:cs typeface="Arial" pitchFamily="34" charset="-120"/>
              </a:rPr>
              <a:t>Nota promedio subió</a:t>
            </a:r>
            <a:endParaRPr lang="en-US" sz="1100" dirty="0"/>
          </a:p>
        </p:txBody>
      </p:sp>
      <p:sp>
        <p:nvSpPr>
          <p:cNvPr id="11" name="Text 8"/>
          <p:cNvSpPr/>
          <p:nvPr/>
        </p:nvSpPr>
        <p:spPr>
          <a:xfrm>
            <a:off x="5212080" y="1920240"/>
            <a:ext cx="2926080" cy="274320"/>
          </a:xfrm>
          <a:prstGeom prst="rect">
            <a:avLst/>
          </a:prstGeom>
          <a:noFill/>
          <a:ln/>
        </p:spPr>
        <p:txBody>
          <a:bodyPr wrap="square" lIns="0" tIns="0" rIns="0" bIns="0" rtlCol="0" anchor="ctr"/>
          <a:lstStyle/>
          <a:p>
            <a:pPr indent="0" marL="0">
              <a:buNone/>
            </a:pPr>
            <a:r>
              <a:rPr lang="en-US" sz="1000" dirty="0">
                <a:solidFill>
                  <a:srgbClr val="5A5F70"/>
                </a:solidFill>
                <a:latin typeface="Arial" pitchFamily="34" charset="0"/>
                <a:ea typeface="Arial" pitchFamily="34" charset="-122"/>
                <a:cs typeface="Arial" pitchFamily="34" charset="-120"/>
              </a:rPr>
              <a:t>de 3.6 a 4.2 (+0.6 puntos)</a:t>
            </a:r>
            <a:endParaRPr lang="en-US" sz="1000" dirty="0"/>
          </a:p>
        </p:txBody>
      </p:sp>
      <p:pic>
        <p:nvPicPr>
          <p:cNvPr id="12" name="Image 1" descr="preencoded.png">    </p:cNvPr>
          <p:cNvPicPr>
            <a:picLocks noChangeAspect="1"/>
          </p:cNvPicPr>
          <p:nvPr/>
        </p:nvPicPr>
        <p:blipFill>
          <a:blip r:embed="rId2"/>
          <a:stretch>
            <a:fillRect/>
          </a:stretch>
        </p:blipFill>
        <p:spPr>
          <a:xfrm>
            <a:off x="4846320" y="2286000"/>
            <a:ext cx="228600" cy="228600"/>
          </a:xfrm>
          <a:prstGeom prst="rect">
            <a:avLst/>
          </a:prstGeom>
        </p:spPr>
      </p:pic>
      <p:sp>
        <p:nvSpPr>
          <p:cNvPr id="13" name="Text 9"/>
          <p:cNvSpPr/>
          <p:nvPr/>
        </p:nvSpPr>
        <p:spPr>
          <a:xfrm>
            <a:off x="5212080" y="2240280"/>
            <a:ext cx="1828800" cy="274320"/>
          </a:xfrm>
          <a:prstGeom prst="rect">
            <a:avLst/>
          </a:prstGeom>
          <a:noFill/>
          <a:ln/>
        </p:spPr>
        <p:txBody>
          <a:bodyPr wrap="square" lIns="0" tIns="0" rIns="0" bIns="0" rtlCol="0" anchor="ctr"/>
          <a:lstStyle/>
          <a:p>
            <a:pPr indent="0" marL="0">
              <a:buNone/>
            </a:pPr>
            <a:r>
              <a:rPr lang="en-US" sz="1100" b="1" dirty="0">
                <a:solidFill>
                  <a:srgbClr val="1C213C"/>
                </a:solidFill>
                <a:latin typeface="Arial" pitchFamily="34" charset="0"/>
                <a:ea typeface="Arial" pitchFamily="34" charset="-122"/>
                <a:cs typeface="Arial" pitchFamily="34" charset="-120"/>
              </a:rPr>
              <a:t>Evaluación docente mejoró</a:t>
            </a:r>
            <a:endParaRPr lang="en-US" sz="1100" dirty="0"/>
          </a:p>
        </p:txBody>
      </p:sp>
      <p:sp>
        <p:nvSpPr>
          <p:cNvPr id="14" name="Text 10"/>
          <p:cNvSpPr/>
          <p:nvPr/>
        </p:nvSpPr>
        <p:spPr>
          <a:xfrm>
            <a:off x="5212080" y="2514600"/>
            <a:ext cx="2926080" cy="274320"/>
          </a:xfrm>
          <a:prstGeom prst="rect">
            <a:avLst/>
          </a:prstGeom>
          <a:noFill/>
          <a:ln/>
        </p:spPr>
        <p:txBody>
          <a:bodyPr wrap="square" lIns="0" tIns="0" rIns="0" bIns="0" rtlCol="0" anchor="ctr"/>
          <a:lstStyle/>
          <a:p>
            <a:pPr indent="0" marL="0">
              <a:buNone/>
            </a:pPr>
            <a:r>
              <a:rPr lang="en-US" sz="1000" dirty="0">
                <a:solidFill>
                  <a:srgbClr val="5A5F70"/>
                </a:solidFill>
                <a:latin typeface="Arial" pitchFamily="34" charset="0"/>
                <a:ea typeface="Arial" pitchFamily="34" charset="-122"/>
                <a:cs typeface="Arial" pitchFamily="34" charset="-120"/>
              </a:rPr>
              <a:t>pasó de 4.0 a 4.7/5.0</a:t>
            </a:r>
            <a:endParaRPr lang="en-US" sz="1000" dirty="0"/>
          </a:p>
        </p:txBody>
      </p:sp>
      <p:pic>
        <p:nvPicPr>
          <p:cNvPr id="15" name="Image 2" descr="preencoded.png">    </p:cNvPr>
          <p:cNvPicPr>
            <a:picLocks noChangeAspect="1"/>
          </p:cNvPicPr>
          <p:nvPr/>
        </p:nvPicPr>
        <p:blipFill>
          <a:blip r:embed="rId3"/>
          <a:stretch>
            <a:fillRect/>
          </a:stretch>
        </p:blipFill>
        <p:spPr>
          <a:xfrm>
            <a:off x="4846320" y="2880360"/>
            <a:ext cx="228600" cy="228600"/>
          </a:xfrm>
          <a:prstGeom prst="rect">
            <a:avLst/>
          </a:prstGeom>
        </p:spPr>
      </p:pic>
      <p:sp>
        <p:nvSpPr>
          <p:cNvPr id="16" name="Text 11"/>
          <p:cNvSpPr/>
          <p:nvPr/>
        </p:nvSpPr>
        <p:spPr>
          <a:xfrm>
            <a:off x="5212080" y="2834640"/>
            <a:ext cx="1828800" cy="274320"/>
          </a:xfrm>
          <a:prstGeom prst="rect">
            <a:avLst/>
          </a:prstGeom>
          <a:noFill/>
          <a:ln/>
        </p:spPr>
        <p:txBody>
          <a:bodyPr wrap="square" lIns="0" tIns="0" rIns="0" bIns="0" rtlCol="0" anchor="ctr"/>
          <a:lstStyle/>
          <a:p>
            <a:pPr indent="0" marL="0">
              <a:buNone/>
            </a:pPr>
            <a:r>
              <a:rPr lang="en-US" sz="1100" b="1" dirty="0">
                <a:solidFill>
                  <a:srgbClr val="1C213C"/>
                </a:solidFill>
                <a:latin typeface="Arial" pitchFamily="34" charset="0"/>
                <a:ea typeface="Arial" pitchFamily="34" charset="-122"/>
                <a:cs typeface="Arial" pitchFamily="34" charset="-120"/>
              </a:rPr>
              <a:t>92% de satisfacción</a:t>
            </a:r>
            <a:endParaRPr lang="en-US" sz="1100" dirty="0"/>
          </a:p>
        </p:txBody>
      </p:sp>
      <p:sp>
        <p:nvSpPr>
          <p:cNvPr id="17" name="Text 12"/>
          <p:cNvSpPr/>
          <p:nvPr/>
        </p:nvSpPr>
        <p:spPr>
          <a:xfrm>
            <a:off x="5212080" y="3108960"/>
            <a:ext cx="2926080" cy="274320"/>
          </a:xfrm>
          <a:prstGeom prst="rect">
            <a:avLst/>
          </a:prstGeom>
          <a:noFill/>
          <a:ln/>
        </p:spPr>
        <p:txBody>
          <a:bodyPr wrap="square" lIns="0" tIns="0" rIns="0" bIns="0" rtlCol="0" anchor="ctr"/>
          <a:lstStyle/>
          <a:p>
            <a:pPr indent="0" marL="0">
              <a:buNone/>
            </a:pPr>
            <a:r>
              <a:rPr lang="en-US" sz="1000" dirty="0">
                <a:solidFill>
                  <a:srgbClr val="5A5F70"/>
                </a:solidFill>
                <a:latin typeface="Arial" pitchFamily="34" charset="0"/>
                <a:ea typeface="Arial" pitchFamily="34" charset="-122"/>
                <a:cs typeface="Arial" pitchFamily="34" charset="-120"/>
              </a:rPr>
              <a:t>"Asignatura más práctica de la carrera"</a:t>
            </a:r>
            <a:endParaRPr lang="en-US" sz="1000" dirty="0"/>
          </a:p>
        </p:txBody>
      </p:sp>
      <p:pic>
        <p:nvPicPr>
          <p:cNvPr id="18" name="Image 3" descr="preencoded.png">    </p:cNvPr>
          <p:cNvPicPr>
            <a:picLocks noChangeAspect="1"/>
          </p:cNvPicPr>
          <p:nvPr/>
        </p:nvPicPr>
        <p:blipFill>
          <a:blip r:embed="rId4"/>
          <a:stretch>
            <a:fillRect/>
          </a:stretch>
        </p:blipFill>
        <p:spPr>
          <a:xfrm>
            <a:off x="4846320" y="3474720"/>
            <a:ext cx="228600" cy="228600"/>
          </a:xfrm>
          <a:prstGeom prst="rect">
            <a:avLst/>
          </a:prstGeom>
        </p:spPr>
      </p:pic>
      <p:sp>
        <p:nvSpPr>
          <p:cNvPr id="19" name="Text 13"/>
          <p:cNvSpPr/>
          <p:nvPr/>
        </p:nvSpPr>
        <p:spPr>
          <a:xfrm>
            <a:off x="5212080" y="3429000"/>
            <a:ext cx="1828800" cy="274320"/>
          </a:xfrm>
          <a:prstGeom prst="rect">
            <a:avLst/>
          </a:prstGeom>
          <a:noFill/>
          <a:ln/>
        </p:spPr>
        <p:txBody>
          <a:bodyPr wrap="square" lIns="0" tIns="0" rIns="0" bIns="0" rtlCol="0" anchor="ctr"/>
          <a:lstStyle/>
          <a:p>
            <a:pPr indent="0" marL="0">
              <a:buNone/>
            </a:pPr>
            <a:r>
              <a:rPr lang="en-US" sz="1100" b="1" dirty="0">
                <a:solidFill>
                  <a:srgbClr val="1C213C"/>
                </a:solidFill>
                <a:latin typeface="Arial" pitchFamily="34" charset="0"/>
                <a:ea typeface="Arial" pitchFamily="34" charset="-122"/>
                <a:cs typeface="Arial" pitchFamily="34" charset="-120"/>
              </a:rPr>
              <a:t>3 profesores más pidieron</a:t>
            </a:r>
            <a:endParaRPr lang="en-US" sz="1100" dirty="0"/>
          </a:p>
        </p:txBody>
      </p:sp>
      <p:sp>
        <p:nvSpPr>
          <p:cNvPr id="20" name="Text 14"/>
          <p:cNvSpPr/>
          <p:nvPr/>
        </p:nvSpPr>
        <p:spPr>
          <a:xfrm>
            <a:off x="5212080" y="3703320"/>
            <a:ext cx="2926080" cy="274320"/>
          </a:xfrm>
          <a:prstGeom prst="rect">
            <a:avLst/>
          </a:prstGeom>
          <a:noFill/>
          <a:ln/>
        </p:spPr>
        <p:txBody>
          <a:bodyPr wrap="square" lIns="0" tIns="0" rIns="0" bIns="0" rtlCol="0" anchor="ctr"/>
          <a:lstStyle/>
          <a:p>
            <a:pPr indent="0" marL="0">
              <a:buNone/>
            </a:pPr>
            <a:r>
              <a:rPr lang="en-US" sz="1000" dirty="0">
                <a:solidFill>
                  <a:srgbClr val="5A5F70"/>
                </a:solidFill>
                <a:latin typeface="Arial" pitchFamily="34" charset="0"/>
                <a:ea typeface="Arial" pitchFamily="34" charset="-122"/>
                <a:cs typeface="Arial" pitchFamily="34" charset="-120"/>
              </a:rPr>
              <a:t>usar el simulador al semestre siguiente</a:t>
            </a:r>
            <a:endParaRPr lang="en-US" sz="1000" dirty="0"/>
          </a:p>
        </p:txBody>
      </p:sp>
      <p:pic>
        <p:nvPicPr>
          <p:cNvPr id="21" name="Image 4" descr="preencoded.png">    </p:cNvPr>
          <p:cNvPicPr>
            <a:picLocks noChangeAspect="1"/>
          </p:cNvPicPr>
          <p:nvPr/>
        </p:nvPicPr>
        <p:blipFill>
          <a:blip r:embed="rId5"/>
          <a:stretch>
            <a:fillRect/>
          </a:stretch>
        </p:blipFill>
        <p:spPr>
          <a:xfrm>
            <a:off x="4846320" y="4069080"/>
            <a:ext cx="228600" cy="228600"/>
          </a:xfrm>
          <a:prstGeom prst="rect">
            <a:avLst/>
          </a:prstGeom>
        </p:spPr>
      </p:pic>
      <p:sp>
        <p:nvSpPr>
          <p:cNvPr id="22" name="Text 15"/>
          <p:cNvSpPr/>
          <p:nvPr/>
        </p:nvSpPr>
        <p:spPr>
          <a:xfrm>
            <a:off x="5212080" y="4023360"/>
            <a:ext cx="1828800" cy="274320"/>
          </a:xfrm>
          <a:prstGeom prst="rect">
            <a:avLst/>
          </a:prstGeom>
          <a:noFill/>
          <a:ln/>
        </p:spPr>
        <p:txBody>
          <a:bodyPr wrap="square" lIns="0" tIns="0" rIns="0" bIns="0" rtlCol="0" anchor="ctr"/>
          <a:lstStyle/>
          <a:p>
            <a:pPr indent="0" marL="0">
              <a:buNone/>
            </a:pPr>
            <a:r>
              <a:rPr lang="en-US" sz="1100" b="1" dirty="0">
                <a:solidFill>
                  <a:srgbClr val="1C213C"/>
                </a:solidFill>
                <a:latin typeface="Arial" pitchFamily="34" charset="0"/>
                <a:ea typeface="Arial" pitchFamily="34" charset="-122"/>
                <a:cs typeface="Arial" pitchFamily="34" charset="-120"/>
              </a:rPr>
              <a:t>Datos para CNA</a:t>
            </a:r>
            <a:endParaRPr lang="en-US" sz="1100" dirty="0"/>
          </a:p>
        </p:txBody>
      </p:sp>
      <p:sp>
        <p:nvSpPr>
          <p:cNvPr id="23" name="Text 16"/>
          <p:cNvSpPr/>
          <p:nvPr/>
        </p:nvSpPr>
        <p:spPr>
          <a:xfrm>
            <a:off x="5212080" y="4297680"/>
            <a:ext cx="2926080" cy="274320"/>
          </a:xfrm>
          <a:prstGeom prst="rect">
            <a:avLst/>
          </a:prstGeom>
          <a:noFill/>
          <a:ln/>
        </p:spPr>
        <p:txBody>
          <a:bodyPr wrap="square" lIns="0" tIns="0" rIns="0" bIns="0" rtlCol="0" anchor="ctr"/>
          <a:lstStyle/>
          <a:p>
            <a:pPr indent="0" marL="0">
              <a:buNone/>
            </a:pPr>
            <a:r>
              <a:rPr lang="en-US" sz="1000" dirty="0">
                <a:solidFill>
                  <a:srgbClr val="5A5F70"/>
                </a:solidFill>
                <a:latin typeface="Arial" pitchFamily="34" charset="0"/>
                <a:ea typeface="Arial" pitchFamily="34" charset="-122"/>
                <a:cs typeface="Arial" pitchFamily="34" charset="-120"/>
              </a:rPr>
              <a:t>Dashboard generó evidencia para acreditación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9C5B1"/>
        </a:solidFill>
      </p:bgPr>
    </p:bg>
    <p:spTree>
      <p:nvGrpSpPr>
        <p:cNvPr id="1" name=""/>
        <p:cNvGrpSpPr/>
        <p:nvPr/>
      </p:nvGrpSpPr>
      <p:grpSpPr>
        <a:xfrm>
          <a:off x="0" y="0"/>
          <a:ext cx="0" cy="0"/>
          <a:chOff x="0" y="0"/>
          <a:chExt cx="0" cy="0"/>
        </a:xfrm>
      </p:grpSpPr>
      <p:sp>
        <p:nvSpPr>
          <p:cNvPr id="2" name="Text 0"/>
          <p:cNvSpPr/>
          <p:nvPr/>
        </p:nvSpPr>
        <p:spPr>
          <a:xfrm>
            <a:off x="64008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Caso de éxito: Emprendimiento</a:t>
            </a:r>
            <a:endParaRPr lang="en-US" sz="2800" dirty="0"/>
          </a:p>
        </p:txBody>
      </p:sp>
      <p:sp>
        <p:nvSpPr>
          <p:cNvPr id="3" name="Shape 1"/>
          <p:cNvSpPr/>
          <p:nvPr/>
        </p:nvSpPr>
        <p:spPr>
          <a:xfrm>
            <a:off x="640080" y="1097280"/>
            <a:ext cx="7863840" cy="3474720"/>
          </a:xfrm>
          <a:prstGeom prst="roundRect">
            <a:avLst>
              <a:gd name="adj" fmla="val 3158"/>
            </a:avLst>
          </a:prstGeom>
          <a:solidFill>
            <a:srgbClr val="FFFFFF">
              <a:alpha val="85000"/>
            </a:srgbClr>
          </a:solidFill>
          <a:ln/>
        </p:spPr>
      </p:sp>
      <p:sp>
        <p:nvSpPr>
          <p:cNvPr id="4" name="Text 2"/>
          <p:cNvSpPr/>
          <p:nvPr/>
        </p:nvSpPr>
        <p:spPr>
          <a:xfrm>
            <a:off x="914400" y="1280160"/>
            <a:ext cx="7315200" cy="73152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Profesora de Creación de Empresa usó SimVenture Evolution en 4to semestre.</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Los estudiantes crearon y operaron una empresa virtual durante 12 semanas.</a:t>
            </a:r>
            <a:endParaRPr lang="en-US" sz="1300" dirty="0"/>
          </a:p>
        </p:txBody>
      </p:sp>
      <p:pic>
        <p:nvPicPr>
          <p:cNvPr id="5" name="Image 0" descr="preencoded.png">    </p:cNvPr>
          <p:cNvPicPr>
            <a:picLocks noChangeAspect="1"/>
          </p:cNvPicPr>
          <p:nvPr/>
        </p:nvPicPr>
        <p:blipFill>
          <a:blip r:embed="rId1"/>
          <a:stretch>
            <a:fillRect/>
          </a:stretch>
        </p:blipFill>
        <p:spPr>
          <a:xfrm>
            <a:off x="914400" y="2240280"/>
            <a:ext cx="274320" cy="274320"/>
          </a:xfrm>
          <a:prstGeom prst="rect">
            <a:avLst/>
          </a:prstGeom>
        </p:spPr>
      </p:pic>
      <p:sp>
        <p:nvSpPr>
          <p:cNvPr id="6" name="Text 3"/>
          <p:cNvSpPr/>
          <p:nvPr/>
        </p:nvSpPr>
        <p:spPr>
          <a:xfrm>
            <a:off x="1371600" y="2194560"/>
            <a:ext cx="685800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Los estudiantes entendieron flujo de caja por primera vez ("ahí es donde duele")</a:t>
            </a:r>
            <a:endParaRPr lang="en-US" sz="1200" dirty="0"/>
          </a:p>
        </p:txBody>
      </p:sp>
      <p:pic>
        <p:nvPicPr>
          <p:cNvPr id="7" name="Image 1" descr="preencoded.png">    </p:cNvPr>
          <p:cNvPicPr>
            <a:picLocks noChangeAspect="1"/>
          </p:cNvPicPr>
          <p:nvPr/>
        </p:nvPicPr>
        <p:blipFill>
          <a:blip r:embed="rId2"/>
          <a:stretch>
            <a:fillRect/>
          </a:stretch>
        </p:blipFill>
        <p:spPr>
          <a:xfrm>
            <a:off x="914400" y="2697480"/>
            <a:ext cx="274320" cy="274320"/>
          </a:xfrm>
          <a:prstGeom prst="rect">
            <a:avLst/>
          </a:prstGeom>
        </p:spPr>
      </p:pic>
      <p:sp>
        <p:nvSpPr>
          <p:cNvPr id="8" name="Text 4"/>
          <p:cNvSpPr/>
          <p:nvPr/>
        </p:nvSpPr>
        <p:spPr>
          <a:xfrm>
            <a:off x="1371600" y="2651760"/>
            <a:ext cx="685800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Tasa de aprobación subió del 78% al 94%</a:t>
            </a:r>
            <a:endParaRPr lang="en-US" sz="1200" dirty="0"/>
          </a:p>
        </p:txBody>
      </p:sp>
      <p:pic>
        <p:nvPicPr>
          <p:cNvPr id="9" name="Image 2" descr="preencoded.png">    </p:cNvPr>
          <p:cNvPicPr>
            <a:picLocks noChangeAspect="1"/>
          </p:cNvPicPr>
          <p:nvPr/>
        </p:nvPicPr>
        <p:blipFill>
          <a:blip r:embed="rId3"/>
          <a:stretch>
            <a:fillRect/>
          </a:stretch>
        </p:blipFill>
        <p:spPr>
          <a:xfrm>
            <a:off x="914400" y="3154680"/>
            <a:ext cx="274320" cy="274320"/>
          </a:xfrm>
          <a:prstGeom prst="rect">
            <a:avLst/>
          </a:prstGeom>
        </p:spPr>
      </p:pic>
      <p:sp>
        <p:nvSpPr>
          <p:cNvPr id="10" name="Text 5"/>
          <p:cNvSpPr/>
          <p:nvPr/>
        </p:nvSpPr>
        <p:spPr>
          <a:xfrm>
            <a:off x="1371600" y="3108960"/>
            <a:ext cx="685800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Los estudiantes usaron la experiencia del simulador para sus planes de negocio reales</a:t>
            </a:r>
            <a:endParaRPr lang="en-US" sz="1200" dirty="0"/>
          </a:p>
        </p:txBody>
      </p:sp>
      <p:pic>
        <p:nvPicPr>
          <p:cNvPr id="11" name="Image 3" descr="preencoded.png">    </p:cNvPr>
          <p:cNvPicPr>
            <a:picLocks noChangeAspect="1"/>
          </p:cNvPicPr>
          <p:nvPr/>
        </p:nvPicPr>
        <p:blipFill>
          <a:blip r:embed="rId4"/>
          <a:stretch>
            <a:fillRect/>
          </a:stretch>
        </p:blipFill>
        <p:spPr>
          <a:xfrm>
            <a:off x="914400" y="3611880"/>
            <a:ext cx="274320" cy="274320"/>
          </a:xfrm>
          <a:prstGeom prst="rect">
            <a:avLst/>
          </a:prstGeom>
        </p:spPr>
      </p:pic>
      <p:sp>
        <p:nvSpPr>
          <p:cNvPr id="12" name="Text 6"/>
          <p:cNvSpPr/>
          <p:nvPr/>
        </p:nvSpPr>
        <p:spPr>
          <a:xfrm>
            <a:off x="1371600" y="3566160"/>
            <a:ext cx="685800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El centro de emprendimiento pidió integrar SimVenture en su programa de incubación</a:t>
            </a:r>
            <a:endParaRPr lang="en-US" sz="1200" dirty="0"/>
          </a:p>
        </p:txBody>
      </p:sp>
      <p:pic>
        <p:nvPicPr>
          <p:cNvPr id="13" name="Image 4" descr="preencoded.png">    </p:cNvPr>
          <p:cNvPicPr>
            <a:picLocks noChangeAspect="1"/>
          </p:cNvPicPr>
          <p:nvPr/>
        </p:nvPicPr>
        <p:blipFill>
          <a:blip r:embed="rId5"/>
          <a:stretch>
            <a:fillRect/>
          </a:stretch>
        </p:blipFill>
        <p:spPr>
          <a:xfrm>
            <a:off x="914400" y="4069080"/>
            <a:ext cx="274320" cy="274320"/>
          </a:xfrm>
          <a:prstGeom prst="rect">
            <a:avLst/>
          </a:prstGeom>
        </p:spPr>
      </p:pic>
      <p:sp>
        <p:nvSpPr>
          <p:cNvPr id="14" name="Text 7"/>
          <p:cNvSpPr/>
          <p:nvPr/>
        </p:nvSpPr>
        <p:spPr>
          <a:xfrm>
            <a:off x="1371600" y="4023360"/>
            <a:ext cx="6858000" cy="4572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3 equipos crearon microempresas reales inspiradas en su experiencia virtual</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C213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548640"/>
            <a:ext cx="731520" cy="731520"/>
          </a:xfrm>
          <a:prstGeom prst="rect">
            <a:avLst/>
          </a:prstGeom>
        </p:spPr>
      </p:pic>
      <p:sp>
        <p:nvSpPr>
          <p:cNvPr id="3" name="Text 0"/>
          <p:cNvSpPr/>
          <p:nvPr/>
        </p:nvSpPr>
        <p:spPr>
          <a:xfrm>
            <a:off x="731520" y="1463040"/>
            <a:ext cx="7680960" cy="2286000"/>
          </a:xfrm>
          <a:prstGeom prst="rect">
            <a:avLst/>
          </a:prstGeom>
          <a:noFill/>
          <a:ln/>
        </p:spPr>
        <p:txBody>
          <a:bodyPr wrap="square" rtlCol="0" anchor="ctr"/>
          <a:lstStyle/>
          <a:p>
            <a:pPr algn="ctr" indent="0" marL="0">
              <a:buNone/>
            </a:pPr>
            <a:r>
              <a:rPr lang="en-US" sz="2000" i="1" dirty="0">
                <a:solidFill>
                  <a:srgbClr val="FFFFFF"/>
                </a:solidFill>
                <a:latin typeface="Arial" pitchFamily="34" charset="0"/>
                <a:ea typeface="Arial" pitchFamily="34" charset="-122"/>
                <a:cs typeface="Arial" pitchFamily="34" charset="-120"/>
              </a:rPr>
              <a:t>"Llevo 10 años dictando Simulación Gerencial</a:t>
            </a:r>
            <a:endParaRPr lang="en-US" sz="2000" dirty="0"/>
          </a:p>
          <a:p>
            <a:pPr algn="ctr" indent="0" marL="0">
              <a:buNone/>
            </a:pPr>
            <a:r>
              <a:rPr lang="en-US" sz="2000" i="1" dirty="0">
                <a:solidFill>
                  <a:srgbClr val="FFFFFF"/>
                </a:solidFill>
                <a:latin typeface="Arial" pitchFamily="34" charset="0"/>
                <a:ea typeface="Arial" pitchFamily="34" charset="-122"/>
                <a:cs typeface="Arial" pitchFamily="34" charset="-120"/>
              </a:rPr>
              <a:t>con Excel y casos de papel. El semestre que</a:t>
            </a:r>
            <a:endParaRPr lang="en-US" sz="2000" dirty="0"/>
          </a:p>
          <a:p>
            <a:pPr algn="ctr" indent="0" marL="0">
              <a:buNone/>
            </a:pPr>
            <a:r>
              <a:rPr lang="en-US" sz="2000" i="1" dirty="0">
                <a:solidFill>
                  <a:srgbClr val="FFFFFF"/>
                </a:solidFill>
                <a:latin typeface="Arial" pitchFamily="34" charset="0"/>
                <a:ea typeface="Arial" pitchFamily="34" charset="-122"/>
                <a:cs typeface="Arial" pitchFamily="34" charset="-120"/>
              </a:rPr>
              <a:t>integré CompanyGame fue el mejor de mi carrera</a:t>
            </a:r>
            <a:endParaRPr lang="en-US" sz="2000" dirty="0"/>
          </a:p>
          <a:p>
            <a:pPr algn="ctr" indent="0" marL="0">
              <a:buNone/>
            </a:pPr>
            <a:r>
              <a:rPr lang="en-US" sz="2000" i="1" dirty="0">
                <a:solidFill>
                  <a:srgbClr val="FFFFFF"/>
                </a:solidFill>
                <a:latin typeface="Arial" pitchFamily="34" charset="0"/>
                <a:ea typeface="Arial" pitchFamily="34" charset="-122"/>
                <a:cs typeface="Arial" pitchFamily="34" charset="-120"/>
              </a:rPr>
              <a:t>docente. Los estudiantes aprendieron más,</a:t>
            </a:r>
            <a:endParaRPr lang="en-US" sz="2000" dirty="0"/>
          </a:p>
          <a:p>
            <a:pPr algn="ctr" indent="0" marL="0">
              <a:buNone/>
            </a:pPr>
            <a:r>
              <a:rPr lang="en-US" sz="2000" i="1" dirty="0">
                <a:solidFill>
                  <a:srgbClr val="FFFFFF"/>
                </a:solidFill>
                <a:latin typeface="Arial" pitchFamily="34" charset="0"/>
                <a:ea typeface="Arial" pitchFamily="34" charset="-122"/>
                <a:cs typeface="Arial" pitchFamily="34" charset="-120"/>
              </a:rPr>
              <a:t>yo trabajé menos, y tengo datos para demostrarlo."</a:t>
            </a:r>
            <a:endParaRPr lang="en-US" sz="2000" dirty="0"/>
          </a:p>
        </p:txBody>
      </p:sp>
      <p:sp>
        <p:nvSpPr>
          <p:cNvPr id="4" name="Text 1"/>
          <p:cNvSpPr/>
          <p:nvPr/>
        </p:nvSpPr>
        <p:spPr>
          <a:xfrm>
            <a:off x="914400" y="3840480"/>
            <a:ext cx="7315200" cy="731520"/>
          </a:xfrm>
          <a:prstGeom prst="rect">
            <a:avLst/>
          </a:prstGeom>
          <a:noFill/>
          <a:ln/>
        </p:spPr>
        <p:txBody>
          <a:bodyPr wrap="square" rtlCol="0" anchor="ctr"/>
          <a:lstStyle/>
          <a:p>
            <a:pPr algn="ctr" indent="0" marL="0">
              <a:buNone/>
            </a:pPr>
            <a:r>
              <a:rPr lang="en-US" sz="1400" dirty="0">
                <a:solidFill>
                  <a:srgbClr val="49C5B1"/>
                </a:solidFill>
                <a:latin typeface="Arial" pitchFamily="34" charset="0"/>
                <a:ea typeface="Arial" pitchFamily="34" charset="-122"/>
                <a:cs typeface="Arial" pitchFamily="34" charset="-120"/>
              </a:rPr>
              <a:t>— Profesor de Simulación Gerencial</a:t>
            </a:r>
            <a:endParaRPr lang="en-US" sz="1400" dirty="0"/>
          </a:p>
          <a:p>
            <a:pPr algn="ctr" indent="0" marL="0">
              <a:buNone/>
            </a:pPr>
            <a:r>
              <a:rPr lang="en-US" sz="1400" dirty="0">
                <a:solidFill>
                  <a:srgbClr val="49C5B1"/>
                </a:solidFill>
                <a:latin typeface="Arial" pitchFamily="34" charset="0"/>
                <a:ea typeface="Arial" pitchFamily="34" charset="-122"/>
                <a:cs typeface="Arial" pitchFamily="34" charset="-120"/>
              </a:rPr>
              <a:t>Programa de Administración de Empresas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Evidencia para acreditación CNA que genera el simulador</a:t>
            </a:r>
            <a:endParaRPr lang="en-US" sz="2800" dirty="0"/>
          </a:p>
        </p:txBody>
      </p:sp>
      <p:pic>
        <p:nvPicPr>
          <p:cNvPr id="3" name="Image 0" descr="preencoded.png">    </p:cNvPr>
          <p:cNvPicPr>
            <a:picLocks noChangeAspect="1"/>
          </p:cNvPicPr>
          <p:nvPr/>
        </p:nvPicPr>
        <p:blipFill>
          <a:blip r:embed="rId1"/>
          <a:stretch>
            <a:fillRect/>
          </a:stretch>
        </p:blipFill>
        <p:spPr>
          <a:xfrm>
            <a:off x="822960" y="1188720"/>
            <a:ext cx="274320" cy="274320"/>
          </a:xfrm>
          <a:prstGeom prst="rect">
            <a:avLst/>
          </a:prstGeom>
        </p:spPr>
      </p:pic>
      <p:sp>
        <p:nvSpPr>
          <p:cNvPr id="4" name="Text 1"/>
          <p:cNvSpPr/>
          <p:nvPr/>
        </p:nvSpPr>
        <p:spPr>
          <a:xfrm>
            <a:off x="1280160" y="1097280"/>
            <a:ext cx="2743200" cy="32004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Aprendizaje activo documentado</a:t>
            </a:r>
            <a:endParaRPr lang="en-US" sz="1300" dirty="0"/>
          </a:p>
        </p:txBody>
      </p:sp>
      <p:sp>
        <p:nvSpPr>
          <p:cNvPr id="5" name="Text 2"/>
          <p:cNvSpPr/>
          <p:nvPr/>
        </p:nvSpPr>
        <p:spPr>
          <a:xfrm>
            <a:off x="4114800" y="1097280"/>
            <a:ext cx="4389120" cy="502920"/>
          </a:xfrm>
          <a:prstGeom prst="rect">
            <a:avLst/>
          </a:prstGeom>
          <a:noFill/>
          <a:ln/>
        </p:spPr>
        <p:txBody>
          <a:bodyPr wrap="square" lIns="0" tIns="0" rIns="0" bIns="0" rtlCol="0" anchor="t"/>
          <a:lstStyle/>
          <a:p>
            <a:pPr indent="0" marL="0">
              <a:buNone/>
            </a:pPr>
            <a:r>
              <a:rPr lang="en-US" sz="1100" dirty="0">
                <a:solidFill>
                  <a:srgbClr val="5A5F70"/>
                </a:solidFill>
                <a:latin typeface="Arial" pitchFamily="34" charset="0"/>
                <a:ea typeface="Arial" pitchFamily="34" charset="-122"/>
                <a:cs typeface="Arial" pitchFamily="34" charset="-120"/>
              </a:rPr>
              <a:t>Dashboard con registro de TODAS las decisiones y resultados por equipo, ronda a ronda.</a:t>
            </a:r>
            <a:endParaRPr lang="en-US" sz="1100" dirty="0"/>
          </a:p>
        </p:txBody>
      </p:sp>
      <p:pic>
        <p:nvPicPr>
          <p:cNvPr id="6" name="Image 1" descr="preencoded.png">    </p:cNvPr>
          <p:cNvPicPr>
            <a:picLocks noChangeAspect="1"/>
          </p:cNvPicPr>
          <p:nvPr/>
        </p:nvPicPr>
        <p:blipFill>
          <a:blip r:embed="rId2"/>
          <a:stretch>
            <a:fillRect/>
          </a:stretch>
        </p:blipFill>
        <p:spPr>
          <a:xfrm>
            <a:off x="822960" y="1847088"/>
            <a:ext cx="274320" cy="274320"/>
          </a:xfrm>
          <a:prstGeom prst="rect">
            <a:avLst/>
          </a:prstGeom>
        </p:spPr>
      </p:pic>
      <p:sp>
        <p:nvSpPr>
          <p:cNvPr id="7" name="Text 3"/>
          <p:cNvSpPr/>
          <p:nvPr/>
        </p:nvSpPr>
        <p:spPr>
          <a:xfrm>
            <a:off x="1280160" y="1755648"/>
            <a:ext cx="2743200" cy="32004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Competencias medibles</a:t>
            </a:r>
            <a:endParaRPr lang="en-US" sz="1300" dirty="0"/>
          </a:p>
        </p:txBody>
      </p:sp>
      <p:sp>
        <p:nvSpPr>
          <p:cNvPr id="8" name="Text 4"/>
          <p:cNvSpPr/>
          <p:nvPr/>
        </p:nvSpPr>
        <p:spPr>
          <a:xfrm>
            <a:off x="4114800" y="1755648"/>
            <a:ext cx="4389120" cy="502920"/>
          </a:xfrm>
          <a:prstGeom prst="rect">
            <a:avLst/>
          </a:prstGeom>
          <a:noFill/>
          <a:ln/>
        </p:spPr>
        <p:txBody>
          <a:bodyPr wrap="square" lIns="0" tIns="0" rIns="0" bIns="0" rtlCol="0" anchor="t"/>
          <a:lstStyle/>
          <a:p>
            <a:pPr indent="0" marL="0">
              <a:buNone/>
            </a:pPr>
            <a:r>
              <a:rPr lang="en-US" sz="1100" dirty="0">
                <a:solidFill>
                  <a:srgbClr val="5A5F70"/>
                </a:solidFill>
                <a:latin typeface="Arial" pitchFamily="34" charset="0"/>
                <a:ea typeface="Arial" pitchFamily="34" charset="-122"/>
                <a:cs typeface="Arial" pitchFamily="34" charset="-120"/>
              </a:rPr>
              <a:t>Rúbricas basadas en desempeño financiero, calidad de decisiones y trabajo en equipo.</a:t>
            </a:r>
            <a:endParaRPr lang="en-US" sz="1100" dirty="0"/>
          </a:p>
        </p:txBody>
      </p:sp>
      <p:pic>
        <p:nvPicPr>
          <p:cNvPr id="9" name="Image 2" descr="preencoded.png">    </p:cNvPr>
          <p:cNvPicPr>
            <a:picLocks noChangeAspect="1"/>
          </p:cNvPicPr>
          <p:nvPr/>
        </p:nvPicPr>
        <p:blipFill>
          <a:blip r:embed="rId3"/>
          <a:stretch>
            <a:fillRect/>
          </a:stretch>
        </p:blipFill>
        <p:spPr>
          <a:xfrm>
            <a:off x="822960" y="2505456"/>
            <a:ext cx="274320" cy="274320"/>
          </a:xfrm>
          <a:prstGeom prst="rect">
            <a:avLst/>
          </a:prstGeom>
        </p:spPr>
      </p:pic>
      <p:sp>
        <p:nvSpPr>
          <p:cNvPr id="10" name="Text 5"/>
          <p:cNvSpPr/>
          <p:nvPr/>
        </p:nvSpPr>
        <p:spPr>
          <a:xfrm>
            <a:off x="1280160" y="2414016"/>
            <a:ext cx="2743200" cy="32004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Evaluación por resultados</a:t>
            </a:r>
            <a:endParaRPr lang="en-US" sz="1300" dirty="0"/>
          </a:p>
        </p:txBody>
      </p:sp>
      <p:sp>
        <p:nvSpPr>
          <p:cNvPr id="11" name="Text 6"/>
          <p:cNvSpPr/>
          <p:nvPr/>
        </p:nvSpPr>
        <p:spPr>
          <a:xfrm>
            <a:off x="4114800" y="2414016"/>
            <a:ext cx="4389120" cy="502920"/>
          </a:xfrm>
          <a:prstGeom prst="rect">
            <a:avLst/>
          </a:prstGeom>
          <a:noFill/>
          <a:ln/>
        </p:spPr>
        <p:txBody>
          <a:bodyPr wrap="square" lIns="0" tIns="0" rIns="0" bIns="0" rtlCol="0" anchor="t"/>
          <a:lstStyle/>
          <a:p>
            <a:pPr indent="0" marL="0">
              <a:buNone/>
            </a:pPr>
            <a:r>
              <a:rPr lang="en-US" sz="1100" dirty="0">
                <a:solidFill>
                  <a:srgbClr val="5A5F70"/>
                </a:solidFill>
                <a:latin typeface="Arial" pitchFamily="34" charset="0"/>
                <a:ea typeface="Arial" pitchFamily="34" charset="-122"/>
                <a:cs typeface="Arial" pitchFamily="34" charset="-120"/>
              </a:rPr>
              <a:t>Comparación de desempeño entre equipos: evidencia cuantitativa, no solo cualitativa.</a:t>
            </a:r>
            <a:endParaRPr lang="en-US" sz="1100" dirty="0"/>
          </a:p>
        </p:txBody>
      </p:sp>
      <p:pic>
        <p:nvPicPr>
          <p:cNvPr id="12" name="Image 3" descr="preencoded.png">    </p:cNvPr>
          <p:cNvPicPr>
            <a:picLocks noChangeAspect="1"/>
          </p:cNvPicPr>
          <p:nvPr/>
        </p:nvPicPr>
        <p:blipFill>
          <a:blip r:embed="rId4"/>
          <a:stretch>
            <a:fillRect/>
          </a:stretch>
        </p:blipFill>
        <p:spPr>
          <a:xfrm>
            <a:off x="822960" y="3163824"/>
            <a:ext cx="274320" cy="274320"/>
          </a:xfrm>
          <a:prstGeom prst="rect">
            <a:avLst/>
          </a:prstGeom>
        </p:spPr>
      </p:pic>
      <p:sp>
        <p:nvSpPr>
          <p:cNvPr id="13" name="Text 7"/>
          <p:cNvSpPr/>
          <p:nvPr/>
        </p:nvSpPr>
        <p:spPr>
          <a:xfrm>
            <a:off x="1280160" y="3072384"/>
            <a:ext cx="2743200" cy="32004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Trabajo colaborativo</a:t>
            </a:r>
            <a:endParaRPr lang="en-US" sz="1300" dirty="0"/>
          </a:p>
        </p:txBody>
      </p:sp>
      <p:sp>
        <p:nvSpPr>
          <p:cNvPr id="14" name="Text 8"/>
          <p:cNvSpPr/>
          <p:nvPr/>
        </p:nvSpPr>
        <p:spPr>
          <a:xfrm>
            <a:off x="4114800" y="3072384"/>
            <a:ext cx="4389120" cy="502920"/>
          </a:xfrm>
          <a:prstGeom prst="rect">
            <a:avLst/>
          </a:prstGeom>
          <a:noFill/>
          <a:ln/>
        </p:spPr>
        <p:txBody>
          <a:bodyPr wrap="square" lIns="0" tIns="0" rIns="0" bIns="0" rtlCol="0" anchor="t"/>
          <a:lstStyle/>
          <a:p>
            <a:pPr indent="0" marL="0">
              <a:buNone/>
            </a:pPr>
            <a:r>
              <a:rPr lang="en-US" sz="1100" dirty="0">
                <a:solidFill>
                  <a:srgbClr val="5A5F70"/>
                </a:solidFill>
                <a:latin typeface="Arial" pitchFamily="34" charset="0"/>
                <a:ea typeface="Arial" pitchFamily="34" charset="-122"/>
                <a:cs typeface="Arial" pitchFamily="34" charset="-120"/>
              </a:rPr>
              <a:t>Registro de equipos, roles y decisiones conjuntas. Evidencia de trabajo en grupo.</a:t>
            </a:r>
            <a:endParaRPr lang="en-US" sz="1100" dirty="0"/>
          </a:p>
        </p:txBody>
      </p:sp>
      <p:pic>
        <p:nvPicPr>
          <p:cNvPr id="15" name="Image 4" descr="preencoded.png">    </p:cNvPr>
          <p:cNvPicPr>
            <a:picLocks noChangeAspect="1"/>
          </p:cNvPicPr>
          <p:nvPr/>
        </p:nvPicPr>
        <p:blipFill>
          <a:blip r:embed="rId5"/>
          <a:stretch>
            <a:fillRect/>
          </a:stretch>
        </p:blipFill>
        <p:spPr>
          <a:xfrm>
            <a:off x="822960" y="3822192"/>
            <a:ext cx="274320" cy="274320"/>
          </a:xfrm>
          <a:prstGeom prst="rect">
            <a:avLst/>
          </a:prstGeom>
        </p:spPr>
      </p:pic>
      <p:sp>
        <p:nvSpPr>
          <p:cNvPr id="16" name="Text 9"/>
          <p:cNvSpPr/>
          <p:nvPr/>
        </p:nvSpPr>
        <p:spPr>
          <a:xfrm>
            <a:off x="1280160" y="3730752"/>
            <a:ext cx="2743200" cy="32004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Uso de tecnología</a:t>
            </a:r>
            <a:endParaRPr lang="en-US" sz="1300" dirty="0"/>
          </a:p>
        </p:txBody>
      </p:sp>
      <p:sp>
        <p:nvSpPr>
          <p:cNvPr id="17" name="Text 10"/>
          <p:cNvSpPr/>
          <p:nvPr/>
        </p:nvSpPr>
        <p:spPr>
          <a:xfrm>
            <a:off x="4114800" y="3730752"/>
            <a:ext cx="4389120" cy="502920"/>
          </a:xfrm>
          <a:prstGeom prst="rect">
            <a:avLst/>
          </a:prstGeom>
          <a:noFill/>
          <a:ln/>
        </p:spPr>
        <p:txBody>
          <a:bodyPr wrap="square" lIns="0" tIns="0" rIns="0" bIns="0" rtlCol="0" anchor="t"/>
          <a:lstStyle/>
          <a:p>
            <a:pPr indent="0" marL="0">
              <a:buNone/>
            </a:pPr>
            <a:r>
              <a:rPr lang="en-US" sz="1100" dirty="0">
                <a:solidFill>
                  <a:srgbClr val="5A5F70"/>
                </a:solidFill>
                <a:latin typeface="Arial" pitchFamily="34" charset="0"/>
                <a:ea typeface="Arial" pitchFamily="34" charset="-122"/>
                <a:cs typeface="Arial" pitchFamily="34" charset="-120"/>
              </a:rPr>
              <a:t>Plataforma web, dashboard digital, analytics de aprendizaje.</a:t>
            </a:r>
            <a:endParaRPr lang="en-US" sz="1100" dirty="0"/>
          </a:p>
        </p:txBody>
      </p:sp>
      <p:pic>
        <p:nvPicPr>
          <p:cNvPr id="18" name="Image 5" descr="preencoded.png">    </p:cNvPr>
          <p:cNvPicPr>
            <a:picLocks noChangeAspect="1"/>
          </p:cNvPicPr>
          <p:nvPr/>
        </p:nvPicPr>
        <p:blipFill>
          <a:blip r:embed="rId6"/>
          <a:stretch>
            <a:fillRect/>
          </a:stretch>
        </p:blipFill>
        <p:spPr>
          <a:xfrm>
            <a:off x="822960" y="4480560"/>
            <a:ext cx="274320" cy="274320"/>
          </a:xfrm>
          <a:prstGeom prst="rect">
            <a:avLst/>
          </a:prstGeom>
        </p:spPr>
      </p:pic>
      <p:sp>
        <p:nvSpPr>
          <p:cNvPr id="19" name="Text 11"/>
          <p:cNvSpPr/>
          <p:nvPr/>
        </p:nvSpPr>
        <p:spPr>
          <a:xfrm>
            <a:off x="1280160" y="4389120"/>
            <a:ext cx="2743200" cy="320040"/>
          </a:xfrm>
          <a:prstGeom prst="rect">
            <a:avLst/>
          </a:prstGeom>
          <a:noFill/>
          <a:ln/>
        </p:spPr>
        <p:txBody>
          <a:bodyPr wrap="square" lIns="0" tIns="0" rIns="0" bIns="0" rtlCol="0" anchor="ctr"/>
          <a:lstStyle/>
          <a:p>
            <a:pPr indent="0" marL="0">
              <a:buNone/>
            </a:pPr>
            <a:r>
              <a:rPr lang="en-US" sz="1300" b="1" dirty="0">
                <a:solidFill>
                  <a:srgbClr val="1C213C"/>
                </a:solidFill>
                <a:latin typeface="Arial" pitchFamily="34" charset="0"/>
                <a:ea typeface="Arial" pitchFamily="34" charset="-122"/>
                <a:cs typeface="Arial" pitchFamily="34" charset="-120"/>
              </a:rPr>
              <a:t>Satisfacción estudiantil</a:t>
            </a:r>
            <a:endParaRPr lang="en-US" sz="1300" dirty="0"/>
          </a:p>
        </p:txBody>
      </p:sp>
      <p:sp>
        <p:nvSpPr>
          <p:cNvPr id="20" name="Text 12"/>
          <p:cNvSpPr/>
          <p:nvPr/>
        </p:nvSpPr>
        <p:spPr>
          <a:xfrm>
            <a:off x="4114800" y="4389120"/>
            <a:ext cx="4389120" cy="502920"/>
          </a:xfrm>
          <a:prstGeom prst="rect">
            <a:avLst/>
          </a:prstGeom>
          <a:noFill/>
          <a:ln/>
        </p:spPr>
        <p:txBody>
          <a:bodyPr wrap="square" lIns="0" tIns="0" rIns="0" bIns="0" rtlCol="0" anchor="t"/>
          <a:lstStyle/>
          <a:p>
            <a:pPr indent="0" marL="0">
              <a:buNone/>
            </a:pPr>
            <a:r>
              <a:rPr lang="en-US" sz="1100" dirty="0">
                <a:solidFill>
                  <a:srgbClr val="5A5F70"/>
                </a:solidFill>
                <a:latin typeface="Arial" pitchFamily="34" charset="0"/>
                <a:ea typeface="Arial" pitchFamily="34" charset="-122"/>
                <a:cs typeface="Arial" pitchFamily="34" charset="-120"/>
              </a:rPr>
              <a:t>Encuestas integradas + métricas de engagement (horas en plataforma, decisiones por ronda).</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49C5B1"/>
        </a:solidFill>
      </p:bgPr>
    </p:bg>
    <p:spTree>
      <p:nvGrpSpPr>
        <p:cNvPr id="1" name=""/>
        <p:cNvGrpSpPr/>
        <p:nvPr/>
      </p:nvGrpSpPr>
      <p:grpSpPr>
        <a:xfrm>
          <a:off x="0" y="0"/>
          <a:ext cx="0" cy="0"/>
          <a:chOff x="0" y="0"/>
          <a:chExt cx="0" cy="0"/>
        </a:xfrm>
      </p:grpSpPr>
      <p:sp>
        <p:nvSpPr>
          <p:cNvPr id="2" name="Text 0"/>
          <p:cNvSpPr/>
          <p:nvPr/>
        </p:nvSpPr>
        <p:spPr>
          <a:xfrm>
            <a:off x="914400" y="365760"/>
            <a:ext cx="7315200" cy="73152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Piloto gratuito</a:t>
            </a:r>
            <a:endParaRPr lang="en-US" sz="4000" dirty="0"/>
          </a:p>
        </p:txBody>
      </p:sp>
      <p:sp>
        <p:nvSpPr>
          <p:cNvPr id="3" name="Text 1"/>
          <p:cNvSpPr/>
          <p:nvPr/>
        </p:nvSpPr>
        <p:spPr>
          <a:xfrm>
            <a:off x="914400" y="1097280"/>
            <a:ext cx="7315200" cy="365760"/>
          </a:xfrm>
          <a:prstGeom prst="rect">
            <a:avLst/>
          </a:prstGeom>
          <a:noFill/>
          <a:ln/>
        </p:spPr>
        <p:txBody>
          <a:bodyPr wrap="square" rtlCol="0" anchor="ctr"/>
          <a:lstStyle/>
          <a:p>
            <a:pPr algn="ctr" indent="0" marL="0">
              <a:buNone/>
            </a:pPr>
            <a:r>
              <a:rPr lang="en-US" sz="1800" b="1" dirty="0">
                <a:solidFill>
                  <a:srgbClr val="1C213C"/>
                </a:solidFill>
                <a:latin typeface="Arial" pitchFamily="34" charset="0"/>
                <a:ea typeface="Arial" pitchFamily="34" charset="-122"/>
                <a:cs typeface="Arial" pitchFamily="34" charset="-120"/>
              </a:rPr>
              <a:t>1 curso · 1 semestre · sin costo · sin compromiso</a:t>
            </a:r>
            <a:endParaRPr lang="en-US" sz="1800" dirty="0"/>
          </a:p>
        </p:txBody>
      </p:sp>
      <p:sp>
        <p:nvSpPr>
          <p:cNvPr id="4" name="Shape 2"/>
          <p:cNvSpPr/>
          <p:nvPr/>
        </p:nvSpPr>
        <p:spPr>
          <a:xfrm>
            <a:off x="1371600" y="1737360"/>
            <a:ext cx="6400800" cy="411480"/>
          </a:xfrm>
          <a:prstGeom prst="roundRect">
            <a:avLst>
              <a:gd name="adj" fmla="val 13333"/>
            </a:avLst>
          </a:prstGeom>
          <a:solidFill>
            <a:srgbClr val="FFFFFF">
              <a:alpha val="85000"/>
            </a:srgbClr>
          </a:solidFill>
          <a:ln/>
        </p:spPr>
      </p:sp>
      <p:pic>
        <p:nvPicPr>
          <p:cNvPr id="5" name="Image 0" descr="preencoded.png">    </p:cNvPr>
          <p:cNvPicPr>
            <a:picLocks noChangeAspect="1"/>
          </p:cNvPicPr>
          <p:nvPr/>
        </p:nvPicPr>
        <p:blipFill>
          <a:blip r:embed="rId1"/>
          <a:stretch>
            <a:fillRect/>
          </a:stretch>
        </p:blipFill>
        <p:spPr>
          <a:xfrm>
            <a:off x="1554480" y="1783080"/>
            <a:ext cx="274320" cy="274320"/>
          </a:xfrm>
          <a:prstGeom prst="rect">
            <a:avLst/>
          </a:prstGeom>
        </p:spPr>
      </p:pic>
      <p:sp>
        <p:nvSpPr>
          <p:cNvPr id="6" name="Text 3"/>
          <p:cNvSpPr/>
          <p:nvPr/>
        </p:nvSpPr>
        <p:spPr>
          <a:xfrm>
            <a:off x="2011680" y="1737360"/>
            <a:ext cx="5486400" cy="41148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Acceso completo al simulador para el curso seleccionado</a:t>
            </a:r>
            <a:endParaRPr lang="en-US" sz="1200" dirty="0"/>
          </a:p>
        </p:txBody>
      </p:sp>
      <p:sp>
        <p:nvSpPr>
          <p:cNvPr id="7" name="Shape 4"/>
          <p:cNvSpPr/>
          <p:nvPr/>
        </p:nvSpPr>
        <p:spPr>
          <a:xfrm>
            <a:off x="1371600" y="2240280"/>
            <a:ext cx="6400800" cy="411480"/>
          </a:xfrm>
          <a:prstGeom prst="roundRect">
            <a:avLst>
              <a:gd name="adj" fmla="val 13333"/>
            </a:avLst>
          </a:prstGeom>
          <a:solidFill>
            <a:srgbClr val="FFFFFF">
              <a:alpha val="85000"/>
            </a:srgbClr>
          </a:solidFill>
          <a:ln/>
        </p:spPr>
      </p:sp>
      <p:pic>
        <p:nvPicPr>
          <p:cNvPr id="8" name="Image 1" descr="preencoded.png">    </p:cNvPr>
          <p:cNvPicPr>
            <a:picLocks noChangeAspect="1"/>
          </p:cNvPicPr>
          <p:nvPr/>
        </p:nvPicPr>
        <p:blipFill>
          <a:blip r:embed="rId2"/>
          <a:stretch>
            <a:fillRect/>
          </a:stretch>
        </p:blipFill>
        <p:spPr>
          <a:xfrm>
            <a:off x="1554480" y="2286000"/>
            <a:ext cx="274320" cy="274320"/>
          </a:xfrm>
          <a:prstGeom prst="rect">
            <a:avLst/>
          </a:prstGeom>
        </p:spPr>
      </p:pic>
      <p:sp>
        <p:nvSpPr>
          <p:cNvPr id="9" name="Text 5"/>
          <p:cNvSpPr/>
          <p:nvPr/>
        </p:nvSpPr>
        <p:spPr>
          <a:xfrm>
            <a:off x="2011680" y="2240280"/>
            <a:ext cx="5486400" cy="41148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Capacitación al profesor: sesión de 2 horas (virtual o presencial)</a:t>
            </a:r>
            <a:endParaRPr lang="en-US" sz="1200" dirty="0"/>
          </a:p>
        </p:txBody>
      </p:sp>
      <p:sp>
        <p:nvSpPr>
          <p:cNvPr id="10" name="Shape 6"/>
          <p:cNvSpPr/>
          <p:nvPr/>
        </p:nvSpPr>
        <p:spPr>
          <a:xfrm>
            <a:off x="1371600" y="2743200"/>
            <a:ext cx="6400800" cy="411480"/>
          </a:xfrm>
          <a:prstGeom prst="roundRect">
            <a:avLst>
              <a:gd name="adj" fmla="val 13333"/>
            </a:avLst>
          </a:prstGeom>
          <a:solidFill>
            <a:srgbClr val="FFFFFF">
              <a:alpha val="85000"/>
            </a:srgbClr>
          </a:solidFill>
          <a:ln/>
        </p:spPr>
      </p:sp>
      <p:pic>
        <p:nvPicPr>
          <p:cNvPr id="11" name="Image 2" descr="preencoded.png">    </p:cNvPr>
          <p:cNvPicPr>
            <a:picLocks noChangeAspect="1"/>
          </p:cNvPicPr>
          <p:nvPr/>
        </p:nvPicPr>
        <p:blipFill>
          <a:blip r:embed="rId3"/>
          <a:stretch>
            <a:fillRect/>
          </a:stretch>
        </p:blipFill>
        <p:spPr>
          <a:xfrm>
            <a:off x="1554480" y="2788920"/>
            <a:ext cx="274320" cy="274320"/>
          </a:xfrm>
          <a:prstGeom prst="rect">
            <a:avLst/>
          </a:prstGeom>
        </p:spPr>
      </p:pic>
      <p:sp>
        <p:nvSpPr>
          <p:cNvPr id="12" name="Text 7"/>
          <p:cNvSpPr/>
          <p:nvPr/>
        </p:nvSpPr>
        <p:spPr>
          <a:xfrm>
            <a:off x="2011680" y="2743200"/>
            <a:ext cx="5486400" cy="41148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Soporte técnico durante todo el semestre</a:t>
            </a:r>
            <a:endParaRPr lang="en-US" sz="1200" dirty="0"/>
          </a:p>
        </p:txBody>
      </p:sp>
      <p:sp>
        <p:nvSpPr>
          <p:cNvPr id="13" name="Shape 8"/>
          <p:cNvSpPr/>
          <p:nvPr/>
        </p:nvSpPr>
        <p:spPr>
          <a:xfrm>
            <a:off x="1371600" y="3246120"/>
            <a:ext cx="6400800" cy="411480"/>
          </a:xfrm>
          <a:prstGeom prst="roundRect">
            <a:avLst>
              <a:gd name="adj" fmla="val 13333"/>
            </a:avLst>
          </a:prstGeom>
          <a:solidFill>
            <a:srgbClr val="FFFFFF">
              <a:alpha val="85000"/>
            </a:srgbClr>
          </a:solidFill>
          <a:ln/>
        </p:spPr>
      </p:sp>
      <p:pic>
        <p:nvPicPr>
          <p:cNvPr id="14" name="Image 3" descr="preencoded.png">    </p:cNvPr>
          <p:cNvPicPr>
            <a:picLocks noChangeAspect="1"/>
          </p:cNvPicPr>
          <p:nvPr/>
        </p:nvPicPr>
        <p:blipFill>
          <a:blip r:embed="rId4"/>
          <a:stretch>
            <a:fillRect/>
          </a:stretch>
        </p:blipFill>
        <p:spPr>
          <a:xfrm>
            <a:off x="1554480" y="3291840"/>
            <a:ext cx="274320" cy="274320"/>
          </a:xfrm>
          <a:prstGeom prst="rect">
            <a:avLst/>
          </a:prstGeom>
        </p:spPr>
      </p:pic>
      <p:sp>
        <p:nvSpPr>
          <p:cNvPr id="15" name="Text 9"/>
          <p:cNvSpPr/>
          <p:nvPr/>
        </p:nvSpPr>
        <p:spPr>
          <a:xfrm>
            <a:off x="2011680" y="3246120"/>
            <a:ext cx="5486400" cy="41148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Dashboard completo con métricas y datos exportables</a:t>
            </a:r>
            <a:endParaRPr lang="en-US" sz="1200" dirty="0"/>
          </a:p>
        </p:txBody>
      </p:sp>
      <p:sp>
        <p:nvSpPr>
          <p:cNvPr id="16" name="Shape 10"/>
          <p:cNvSpPr/>
          <p:nvPr/>
        </p:nvSpPr>
        <p:spPr>
          <a:xfrm>
            <a:off x="1371600" y="3749040"/>
            <a:ext cx="6400800" cy="411480"/>
          </a:xfrm>
          <a:prstGeom prst="roundRect">
            <a:avLst>
              <a:gd name="adj" fmla="val 13333"/>
            </a:avLst>
          </a:prstGeom>
          <a:solidFill>
            <a:srgbClr val="FFFFFF">
              <a:alpha val="85000"/>
            </a:srgbClr>
          </a:solidFill>
          <a:ln/>
        </p:spPr>
      </p:sp>
      <p:pic>
        <p:nvPicPr>
          <p:cNvPr id="17" name="Image 4" descr="preencoded.png">    </p:cNvPr>
          <p:cNvPicPr>
            <a:picLocks noChangeAspect="1"/>
          </p:cNvPicPr>
          <p:nvPr/>
        </p:nvPicPr>
        <p:blipFill>
          <a:blip r:embed="rId5"/>
          <a:stretch>
            <a:fillRect/>
          </a:stretch>
        </p:blipFill>
        <p:spPr>
          <a:xfrm>
            <a:off x="1554480" y="3794760"/>
            <a:ext cx="274320" cy="274320"/>
          </a:xfrm>
          <a:prstGeom prst="rect">
            <a:avLst/>
          </a:prstGeom>
        </p:spPr>
      </p:pic>
      <p:sp>
        <p:nvSpPr>
          <p:cNvPr id="18" name="Text 11"/>
          <p:cNvSpPr/>
          <p:nvPr/>
        </p:nvSpPr>
        <p:spPr>
          <a:xfrm>
            <a:off x="2011680" y="3749040"/>
            <a:ext cx="5486400" cy="41148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Guía de integración curricular personalizada</a:t>
            </a:r>
            <a:endParaRPr lang="en-US" sz="1200" dirty="0"/>
          </a:p>
        </p:txBody>
      </p:sp>
      <p:sp>
        <p:nvSpPr>
          <p:cNvPr id="19" name="Shape 12"/>
          <p:cNvSpPr/>
          <p:nvPr/>
        </p:nvSpPr>
        <p:spPr>
          <a:xfrm>
            <a:off x="1371600" y="4251960"/>
            <a:ext cx="6400800" cy="411480"/>
          </a:xfrm>
          <a:prstGeom prst="roundRect">
            <a:avLst>
              <a:gd name="adj" fmla="val 13333"/>
            </a:avLst>
          </a:prstGeom>
          <a:solidFill>
            <a:srgbClr val="FFFFFF">
              <a:alpha val="85000"/>
            </a:srgbClr>
          </a:solidFill>
          <a:ln/>
        </p:spPr>
      </p:sp>
      <p:pic>
        <p:nvPicPr>
          <p:cNvPr id="20" name="Image 5" descr="preencoded.png">    </p:cNvPr>
          <p:cNvPicPr>
            <a:picLocks noChangeAspect="1"/>
          </p:cNvPicPr>
          <p:nvPr/>
        </p:nvPicPr>
        <p:blipFill>
          <a:blip r:embed="rId6"/>
          <a:stretch>
            <a:fillRect/>
          </a:stretch>
        </p:blipFill>
        <p:spPr>
          <a:xfrm>
            <a:off x="1554480" y="4297680"/>
            <a:ext cx="274320" cy="274320"/>
          </a:xfrm>
          <a:prstGeom prst="rect">
            <a:avLst/>
          </a:prstGeom>
        </p:spPr>
      </p:pic>
      <p:sp>
        <p:nvSpPr>
          <p:cNvPr id="21" name="Text 13"/>
          <p:cNvSpPr/>
          <p:nvPr/>
        </p:nvSpPr>
        <p:spPr>
          <a:xfrm>
            <a:off x="2011680" y="4251960"/>
            <a:ext cx="5486400" cy="41148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Sin costo y sin compromiso de compra — si no funciona, no perdió nada</a:t>
            </a:r>
            <a:endParaRPr lang="en-US" sz="1200" dirty="0"/>
          </a:p>
        </p:txBody>
      </p:sp>
      <p:sp>
        <p:nvSpPr>
          <p:cNvPr id="22" name="Text 14"/>
          <p:cNvSpPr/>
          <p:nvPr/>
        </p:nvSpPr>
        <p:spPr>
          <a:xfrm>
            <a:off x="914400" y="4663440"/>
            <a:ext cx="7315200" cy="274320"/>
          </a:xfrm>
          <a:prstGeom prst="rect">
            <a:avLst/>
          </a:prstGeom>
          <a:noFill/>
          <a:ln/>
        </p:spPr>
        <p:txBody>
          <a:bodyPr wrap="square" rtlCol="0" anchor="ctr"/>
          <a:lstStyle/>
          <a:p>
            <a:pPr algn="ctr" indent="0" marL="0">
              <a:buNone/>
            </a:pPr>
            <a:r>
              <a:rPr lang="en-US" sz="1300" b="1" dirty="0">
                <a:solidFill>
                  <a:srgbClr val="1C213C"/>
                </a:solidFill>
                <a:latin typeface="Arial" pitchFamily="34" charset="0"/>
                <a:ea typeface="Arial" pitchFamily="34" charset="-122"/>
                <a:cs typeface="Arial" pitchFamily="34" charset="-120"/>
              </a:rPr>
              <a:t>¿Qué necesitamos? Un curso + un profesor motivado + máximo 30 estudiantes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1C213C"/>
                </a:solidFill>
                <a:latin typeface="Arial" pitchFamily="34" charset="0"/>
                <a:ea typeface="Arial" pitchFamily="34" charset="-122"/>
                <a:cs typeface="Arial" pitchFamily="34" charset="-120"/>
              </a:rPr>
              <a:t>Próximos pasos: cómo arrancar</a:t>
            </a:r>
            <a:endParaRPr lang="en-US" sz="2800" dirty="0"/>
          </a:p>
        </p:txBody>
      </p:sp>
      <p:sp>
        <p:nvSpPr>
          <p:cNvPr id="3" name="Shape 1"/>
          <p:cNvSpPr/>
          <p:nvPr/>
        </p:nvSpPr>
        <p:spPr>
          <a:xfrm>
            <a:off x="914400" y="1234440"/>
            <a:ext cx="548640" cy="548640"/>
          </a:xfrm>
          <a:prstGeom prst="ellipse">
            <a:avLst/>
          </a:prstGeom>
          <a:solidFill>
            <a:srgbClr val="49C5B1"/>
          </a:solidFill>
          <a:ln/>
        </p:spPr>
      </p:sp>
      <p:sp>
        <p:nvSpPr>
          <p:cNvPr id="4" name="Text 2"/>
          <p:cNvSpPr/>
          <p:nvPr/>
        </p:nvSpPr>
        <p:spPr>
          <a:xfrm>
            <a:off x="914400" y="123444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 name="Text 3"/>
          <p:cNvSpPr/>
          <p:nvPr/>
        </p:nvSpPr>
        <p:spPr>
          <a:xfrm>
            <a:off x="1737360" y="1188720"/>
            <a:ext cx="1371600" cy="640080"/>
          </a:xfrm>
          <a:prstGeom prst="rect">
            <a:avLst/>
          </a:prstGeom>
          <a:noFill/>
          <a:ln/>
        </p:spPr>
        <p:txBody>
          <a:bodyPr wrap="square" rtlCol="0" anchor="ctr"/>
          <a:lstStyle/>
          <a:p>
            <a:pPr indent="0" marL="0">
              <a:buNone/>
            </a:pPr>
            <a:r>
              <a:rPr lang="en-US" sz="1400" b="1" dirty="0">
                <a:solidFill>
                  <a:srgbClr val="1C213C"/>
                </a:solidFill>
                <a:latin typeface="Arial" pitchFamily="34" charset="0"/>
                <a:ea typeface="Arial" pitchFamily="34" charset="-122"/>
                <a:cs typeface="Arial" pitchFamily="34" charset="-120"/>
              </a:rPr>
              <a:t>Hoy</a:t>
            </a:r>
            <a:endParaRPr lang="en-US" sz="1400" dirty="0"/>
          </a:p>
        </p:txBody>
      </p:sp>
      <p:sp>
        <p:nvSpPr>
          <p:cNvPr id="6" name="Text 4"/>
          <p:cNvSpPr/>
          <p:nvPr/>
        </p:nvSpPr>
        <p:spPr>
          <a:xfrm>
            <a:off x="3200400" y="1188720"/>
            <a:ext cx="5303520" cy="640080"/>
          </a:xfrm>
          <a:prstGeom prst="rect">
            <a:avLst/>
          </a:prstGeom>
          <a:noFill/>
          <a:ln/>
        </p:spPr>
        <p:txBody>
          <a:bodyPr wrap="square" rtlCol="0" anchor="ctr"/>
          <a:lstStyle/>
          <a:p>
            <a:pPr indent="0" marL="0">
              <a:buNone/>
            </a:pPr>
            <a:r>
              <a:rPr lang="en-US" sz="1300" dirty="0">
                <a:solidFill>
                  <a:srgbClr val="5A5F70"/>
                </a:solidFill>
                <a:latin typeface="Arial" pitchFamily="34" charset="0"/>
                <a:ea typeface="Arial" pitchFamily="34" charset="-122"/>
                <a:cs typeface="Arial" pitchFamily="34" charset="-120"/>
              </a:rPr>
              <a:t>Escríbame al chat o por correo si le interesa el piloto.</a:t>
            </a:r>
            <a:endParaRPr lang="en-US" sz="1300" dirty="0"/>
          </a:p>
        </p:txBody>
      </p:sp>
      <p:sp>
        <p:nvSpPr>
          <p:cNvPr id="7" name="Shape 5"/>
          <p:cNvSpPr/>
          <p:nvPr/>
        </p:nvSpPr>
        <p:spPr>
          <a:xfrm>
            <a:off x="914400" y="1965960"/>
            <a:ext cx="548640" cy="548640"/>
          </a:xfrm>
          <a:prstGeom prst="ellipse">
            <a:avLst/>
          </a:prstGeom>
          <a:solidFill>
            <a:srgbClr val="49C5B1"/>
          </a:solidFill>
          <a:ln/>
        </p:spPr>
      </p:sp>
      <p:sp>
        <p:nvSpPr>
          <p:cNvPr id="8" name="Text 6"/>
          <p:cNvSpPr/>
          <p:nvPr/>
        </p:nvSpPr>
        <p:spPr>
          <a:xfrm>
            <a:off x="914400" y="196596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Text 7"/>
          <p:cNvSpPr/>
          <p:nvPr/>
        </p:nvSpPr>
        <p:spPr>
          <a:xfrm>
            <a:off x="1737360" y="1920240"/>
            <a:ext cx="1371600" cy="640080"/>
          </a:xfrm>
          <a:prstGeom prst="rect">
            <a:avLst/>
          </a:prstGeom>
          <a:noFill/>
          <a:ln/>
        </p:spPr>
        <p:txBody>
          <a:bodyPr wrap="square" rtlCol="0" anchor="ctr"/>
          <a:lstStyle/>
          <a:p>
            <a:pPr indent="0" marL="0">
              <a:buNone/>
            </a:pPr>
            <a:r>
              <a:rPr lang="en-US" sz="1400" b="1" dirty="0">
                <a:solidFill>
                  <a:srgbClr val="1C213C"/>
                </a:solidFill>
                <a:latin typeface="Arial" pitchFamily="34" charset="0"/>
                <a:ea typeface="Arial" pitchFamily="34" charset="-122"/>
                <a:cs typeface="Arial" pitchFamily="34" charset="-120"/>
              </a:rPr>
              <a:t>Esta semana</a:t>
            </a:r>
            <a:endParaRPr lang="en-US" sz="1400" dirty="0"/>
          </a:p>
        </p:txBody>
      </p:sp>
      <p:sp>
        <p:nvSpPr>
          <p:cNvPr id="10" name="Text 8"/>
          <p:cNvSpPr/>
          <p:nvPr/>
        </p:nvSpPr>
        <p:spPr>
          <a:xfrm>
            <a:off x="3200400" y="1920240"/>
            <a:ext cx="5303520" cy="640080"/>
          </a:xfrm>
          <a:prstGeom prst="rect">
            <a:avLst/>
          </a:prstGeom>
          <a:noFill/>
          <a:ln/>
        </p:spPr>
        <p:txBody>
          <a:bodyPr wrap="square" rtlCol="0" anchor="ctr"/>
          <a:lstStyle/>
          <a:p>
            <a:pPr indent="0" marL="0">
              <a:buNone/>
            </a:pPr>
            <a:r>
              <a:rPr lang="en-US" sz="1300" dirty="0">
                <a:solidFill>
                  <a:srgbClr val="5A5F70"/>
                </a:solidFill>
                <a:latin typeface="Arial" pitchFamily="34" charset="0"/>
                <a:ea typeface="Arial" pitchFamily="34" charset="-122"/>
                <a:cs typeface="Arial" pitchFamily="34" charset="-120"/>
              </a:rPr>
              <a:t>Le envío acceso de prueba al simulador para que lo explore.</a:t>
            </a:r>
            <a:endParaRPr lang="en-US" sz="1300" dirty="0"/>
          </a:p>
        </p:txBody>
      </p:sp>
      <p:sp>
        <p:nvSpPr>
          <p:cNvPr id="11" name="Shape 9"/>
          <p:cNvSpPr/>
          <p:nvPr/>
        </p:nvSpPr>
        <p:spPr>
          <a:xfrm>
            <a:off x="914400" y="2697480"/>
            <a:ext cx="548640" cy="548640"/>
          </a:xfrm>
          <a:prstGeom prst="ellipse">
            <a:avLst/>
          </a:prstGeom>
          <a:solidFill>
            <a:srgbClr val="1C213C"/>
          </a:solidFill>
          <a:ln/>
        </p:spPr>
      </p:sp>
      <p:sp>
        <p:nvSpPr>
          <p:cNvPr id="12" name="Text 10"/>
          <p:cNvSpPr/>
          <p:nvPr/>
        </p:nvSpPr>
        <p:spPr>
          <a:xfrm>
            <a:off x="914400" y="269748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1737360" y="2651760"/>
            <a:ext cx="1371600" cy="640080"/>
          </a:xfrm>
          <a:prstGeom prst="rect">
            <a:avLst/>
          </a:prstGeom>
          <a:noFill/>
          <a:ln/>
        </p:spPr>
        <p:txBody>
          <a:bodyPr wrap="square" rtlCol="0" anchor="ctr"/>
          <a:lstStyle/>
          <a:p>
            <a:pPr indent="0" marL="0">
              <a:buNone/>
            </a:pPr>
            <a:r>
              <a:rPr lang="en-US" sz="1400" b="1" dirty="0">
                <a:solidFill>
                  <a:srgbClr val="1C213C"/>
                </a:solidFill>
                <a:latin typeface="Arial" pitchFamily="34" charset="0"/>
                <a:ea typeface="Arial" pitchFamily="34" charset="-122"/>
                <a:cs typeface="Arial" pitchFamily="34" charset="-120"/>
              </a:rPr>
              <a:t>Semana 1</a:t>
            </a:r>
            <a:endParaRPr lang="en-US" sz="1400" dirty="0"/>
          </a:p>
        </p:txBody>
      </p:sp>
      <p:sp>
        <p:nvSpPr>
          <p:cNvPr id="14" name="Text 12"/>
          <p:cNvSpPr/>
          <p:nvPr/>
        </p:nvSpPr>
        <p:spPr>
          <a:xfrm>
            <a:off x="3200400" y="2651760"/>
            <a:ext cx="5303520" cy="640080"/>
          </a:xfrm>
          <a:prstGeom prst="rect">
            <a:avLst/>
          </a:prstGeom>
          <a:noFill/>
          <a:ln/>
        </p:spPr>
        <p:txBody>
          <a:bodyPr wrap="square" rtlCol="0" anchor="ctr"/>
          <a:lstStyle/>
          <a:p>
            <a:pPr indent="0" marL="0">
              <a:buNone/>
            </a:pPr>
            <a:r>
              <a:rPr lang="en-US" sz="1300" dirty="0">
                <a:solidFill>
                  <a:srgbClr val="5A5F70"/>
                </a:solidFill>
                <a:latin typeface="Arial" pitchFamily="34" charset="0"/>
                <a:ea typeface="Arial" pitchFamily="34" charset="-122"/>
                <a:cs typeface="Arial" pitchFamily="34" charset="-120"/>
              </a:rPr>
              <a:t>Sesión de capacitación de 2 horas (virtual o presencial).</a:t>
            </a:r>
            <a:endParaRPr lang="en-US" sz="1300" dirty="0"/>
          </a:p>
        </p:txBody>
      </p:sp>
      <p:sp>
        <p:nvSpPr>
          <p:cNvPr id="15" name="Shape 13"/>
          <p:cNvSpPr/>
          <p:nvPr/>
        </p:nvSpPr>
        <p:spPr>
          <a:xfrm>
            <a:off x="914400" y="3429000"/>
            <a:ext cx="548640" cy="548640"/>
          </a:xfrm>
          <a:prstGeom prst="ellipse">
            <a:avLst/>
          </a:prstGeom>
          <a:solidFill>
            <a:srgbClr val="1C213C"/>
          </a:solidFill>
          <a:ln/>
        </p:spPr>
      </p:sp>
      <p:sp>
        <p:nvSpPr>
          <p:cNvPr id="16" name="Text 14"/>
          <p:cNvSpPr/>
          <p:nvPr/>
        </p:nvSpPr>
        <p:spPr>
          <a:xfrm>
            <a:off x="914400" y="342900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7" name="Text 15"/>
          <p:cNvSpPr/>
          <p:nvPr/>
        </p:nvSpPr>
        <p:spPr>
          <a:xfrm>
            <a:off x="1737360" y="3383280"/>
            <a:ext cx="1371600" cy="640080"/>
          </a:xfrm>
          <a:prstGeom prst="rect">
            <a:avLst/>
          </a:prstGeom>
          <a:noFill/>
          <a:ln/>
        </p:spPr>
        <p:txBody>
          <a:bodyPr wrap="square" rtlCol="0" anchor="ctr"/>
          <a:lstStyle/>
          <a:p>
            <a:pPr indent="0" marL="0">
              <a:buNone/>
            </a:pPr>
            <a:r>
              <a:rPr lang="en-US" sz="1400" b="1" dirty="0">
                <a:solidFill>
                  <a:srgbClr val="1C213C"/>
                </a:solidFill>
                <a:latin typeface="Arial" pitchFamily="34" charset="0"/>
                <a:ea typeface="Arial" pitchFamily="34" charset="-122"/>
                <a:cs typeface="Arial" pitchFamily="34" charset="-120"/>
              </a:rPr>
              <a:t>Semana 2</a:t>
            </a:r>
            <a:endParaRPr lang="en-US" sz="1400" dirty="0"/>
          </a:p>
        </p:txBody>
      </p:sp>
      <p:sp>
        <p:nvSpPr>
          <p:cNvPr id="18" name="Text 16"/>
          <p:cNvSpPr/>
          <p:nvPr/>
        </p:nvSpPr>
        <p:spPr>
          <a:xfrm>
            <a:off x="3200400" y="3383280"/>
            <a:ext cx="5303520" cy="640080"/>
          </a:xfrm>
          <a:prstGeom prst="rect">
            <a:avLst/>
          </a:prstGeom>
          <a:noFill/>
          <a:ln/>
        </p:spPr>
        <p:txBody>
          <a:bodyPr wrap="square" rtlCol="0" anchor="ctr"/>
          <a:lstStyle/>
          <a:p>
            <a:pPr indent="0" marL="0">
              <a:buNone/>
            </a:pPr>
            <a:r>
              <a:rPr lang="en-US" sz="1300" dirty="0">
                <a:solidFill>
                  <a:srgbClr val="5A5F70"/>
                </a:solidFill>
                <a:latin typeface="Arial" pitchFamily="34" charset="0"/>
                <a:ea typeface="Arial" pitchFamily="34" charset="-122"/>
                <a:cs typeface="Arial" pitchFamily="34" charset="-120"/>
              </a:rPr>
              <a:t>Clase introductoria con sus estudiantes.</a:t>
            </a:r>
            <a:endParaRPr lang="en-US" sz="1300" dirty="0"/>
          </a:p>
        </p:txBody>
      </p:sp>
      <p:sp>
        <p:nvSpPr>
          <p:cNvPr id="19" name="Shape 17"/>
          <p:cNvSpPr/>
          <p:nvPr/>
        </p:nvSpPr>
        <p:spPr>
          <a:xfrm>
            <a:off x="914400" y="4160520"/>
            <a:ext cx="548640" cy="548640"/>
          </a:xfrm>
          <a:prstGeom prst="ellipse">
            <a:avLst/>
          </a:prstGeom>
          <a:solidFill>
            <a:srgbClr val="1C213C"/>
          </a:solidFill>
          <a:ln/>
        </p:spPr>
      </p:sp>
      <p:sp>
        <p:nvSpPr>
          <p:cNvPr id="20" name="Text 18"/>
          <p:cNvSpPr/>
          <p:nvPr/>
        </p:nvSpPr>
        <p:spPr>
          <a:xfrm>
            <a:off x="914400" y="416052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1" name="Text 19"/>
          <p:cNvSpPr/>
          <p:nvPr/>
        </p:nvSpPr>
        <p:spPr>
          <a:xfrm>
            <a:off x="1737360" y="4114800"/>
            <a:ext cx="1371600" cy="640080"/>
          </a:xfrm>
          <a:prstGeom prst="rect">
            <a:avLst/>
          </a:prstGeom>
          <a:noFill/>
          <a:ln/>
        </p:spPr>
        <p:txBody>
          <a:bodyPr wrap="square" rtlCol="0" anchor="ctr"/>
          <a:lstStyle/>
          <a:p>
            <a:pPr indent="0" marL="0">
              <a:buNone/>
            </a:pPr>
            <a:r>
              <a:rPr lang="en-US" sz="1400" b="1" dirty="0">
                <a:solidFill>
                  <a:srgbClr val="1C213C"/>
                </a:solidFill>
                <a:latin typeface="Arial" pitchFamily="34" charset="0"/>
                <a:ea typeface="Arial" pitchFamily="34" charset="-122"/>
                <a:cs typeface="Arial" pitchFamily="34" charset="-120"/>
              </a:rPr>
              <a:t>Semana 3+</a:t>
            </a:r>
            <a:endParaRPr lang="en-US" sz="1400" dirty="0"/>
          </a:p>
        </p:txBody>
      </p:sp>
      <p:sp>
        <p:nvSpPr>
          <p:cNvPr id="22" name="Text 20"/>
          <p:cNvSpPr/>
          <p:nvPr/>
        </p:nvSpPr>
        <p:spPr>
          <a:xfrm>
            <a:off x="3200400" y="4114800"/>
            <a:ext cx="5303520" cy="640080"/>
          </a:xfrm>
          <a:prstGeom prst="rect">
            <a:avLst/>
          </a:prstGeom>
          <a:noFill/>
          <a:ln/>
        </p:spPr>
        <p:txBody>
          <a:bodyPr wrap="square" rtlCol="0" anchor="ctr"/>
          <a:lstStyle/>
          <a:p>
            <a:pPr indent="0" marL="0">
              <a:buNone/>
            </a:pPr>
            <a:r>
              <a:rPr lang="en-US" sz="1300" dirty="0">
                <a:solidFill>
                  <a:srgbClr val="5A5F70"/>
                </a:solidFill>
                <a:latin typeface="Arial" pitchFamily="34" charset="0"/>
                <a:ea typeface="Arial" pitchFamily="34" charset="-122"/>
                <a:cs typeface="Arial" pitchFamily="34" charset="-120"/>
              </a:rPr>
              <a:t>¡Arranca la simulación!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C213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886200" y="914400"/>
            <a:ext cx="1371600" cy="1371600"/>
          </a:xfrm>
          <a:prstGeom prst="rect">
            <a:avLst/>
          </a:prstGeom>
        </p:spPr>
      </p:pic>
      <p:sp>
        <p:nvSpPr>
          <p:cNvPr id="3" name="Text 0"/>
          <p:cNvSpPr/>
          <p:nvPr/>
        </p:nvSpPr>
        <p:spPr>
          <a:xfrm>
            <a:off x="914400" y="2560320"/>
            <a:ext cx="7315200" cy="73152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Preguntas y respuestas</a:t>
            </a:r>
            <a:endParaRPr lang="en-US" sz="3600" dirty="0"/>
          </a:p>
        </p:txBody>
      </p:sp>
      <p:sp>
        <p:nvSpPr>
          <p:cNvPr id="4" name="Text 1"/>
          <p:cNvSpPr/>
          <p:nvPr/>
        </p:nvSpPr>
        <p:spPr>
          <a:xfrm>
            <a:off x="914400" y="3474720"/>
            <a:ext cx="7315200" cy="457200"/>
          </a:xfrm>
          <a:prstGeom prst="rect">
            <a:avLst/>
          </a:prstGeom>
          <a:noFill/>
          <a:ln/>
        </p:spPr>
        <p:txBody>
          <a:bodyPr wrap="square" rtlCol="0" anchor="ctr"/>
          <a:lstStyle/>
          <a:p>
            <a:pPr algn="ctr" indent="0" marL="0">
              <a:buNone/>
            </a:pPr>
            <a:r>
              <a:rPr lang="en-US" sz="1600" dirty="0">
                <a:solidFill>
                  <a:srgbClr val="49C5B1"/>
                </a:solidFill>
                <a:latin typeface="Arial" pitchFamily="34" charset="0"/>
                <a:ea typeface="Arial" pitchFamily="34" charset="-122"/>
                <a:cs typeface="Arial" pitchFamily="34" charset="-120"/>
              </a:rPr>
              <a:t>Escriban sus preguntas en el chat de Zoom</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C213C"/>
        </a:solidFill>
      </p:bgPr>
    </p:bg>
    <p:spTree>
      <p:nvGrpSpPr>
        <p:cNvPr id="1" name=""/>
        <p:cNvGrpSpPr/>
        <p:nvPr/>
      </p:nvGrpSpPr>
      <p:grpSpPr>
        <a:xfrm>
          <a:off x="0" y="0"/>
          <a:ext cx="0" cy="0"/>
          <a:chOff x="0" y="0"/>
          <a:chExt cx="0" cy="0"/>
        </a:xfrm>
      </p:grpSpPr>
      <p:sp>
        <p:nvSpPr>
          <p:cNvPr id="2" name="Text 0"/>
          <p:cNvSpPr/>
          <p:nvPr/>
        </p:nvSpPr>
        <p:spPr>
          <a:xfrm>
            <a:off x="914400" y="548640"/>
            <a:ext cx="7315200" cy="91440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¡Gracias!</a:t>
            </a:r>
            <a:endParaRPr lang="en-US" sz="4800" dirty="0"/>
          </a:p>
        </p:txBody>
      </p:sp>
      <p:sp>
        <p:nvSpPr>
          <p:cNvPr id="3" name="Shape 1"/>
          <p:cNvSpPr/>
          <p:nvPr/>
        </p:nvSpPr>
        <p:spPr>
          <a:xfrm>
            <a:off x="2286000" y="1645920"/>
            <a:ext cx="4572000" cy="2560320"/>
          </a:xfrm>
          <a:prstGeom prst="roundRect">
            <a:avLst>
              <a:gd name="adj" fmla="val 5357"/>
            </a:avLst>
          </a:prstGeom>
          <a:solidFill>
            <a:srgbClr val="49C5B1">
              <a:alpha val="80000"/>
            </a:srgbClr>
          </a:solidFill>
          <a:ln/>
        </p:spPr>
      </p:sp>
      <p:sp>
        <p:nvSpPr>
          <p:cNvPr id="4" name="Text 2"/>
          <p:cNvSpPr/>
          <p:nvPr/>
        </p:nvSpPr>
        <p:spPr>
          <a:xfrm>
            <a:off x="2286000" y="1828800"/>
            <a:ext cx="45720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[Tu nombre]</a:t>
            </a:r>
            <a:endParaRPr lang="en-US" sz="2200" dirty="0"/>
          </a:p>
        </p:txBody>
      </p:sp>
      <p:sp>
        <p:nvSpPr>
          <p:cNvPr id="5" name="Text 3"/>
          <p:cNvSpPr/>
          <p:nvPr/>
        </p:nvSpPr>
        <p:spPr>
          <a:xfrm>
            <a:off x="2286000" y="2286000"/>
            <a:ext cx="4572000" cy="365760"/>
          </a:xfrm>
          <a:prstGeom prst="rect">
            <a:avLst/>
          </a:prstGeom>
          <a:noFill/>
          <a:ln/>
        </p:spPr>
        <p:txBody>
          <a:bodyPr wrap="square" rtlCol="0" anchor="ctr"/>
          <a:lstStyle/>
          <a:p>
            <a:pPr algn="ctr" indent="0" marL="0">
              <a:buNone/>
            </a:pPr>
            <a:r>
              <a:rPr lang="en-US" sz="1600" dirty="0">
                <a:solidFill>
                  <a:srgbClr val="49C5B1"/>
                </a:solidFill>
                <a:latin typeface="Arial" pitchFamily="34" charset="0"/>
                <a:ea typeface="Arial" pitchFamily="34" charset="-122"/>
                <a:cs typeface="Arial" pitchFamily="34" charset="-120"/>
              </a:rPr>
              <a:t>[Cargo] · [Empresa]</a:t>
            </a:r>
            <a:endParaRPr lang="en-US" sz="1600" dirty="0"/>
          </a:p>
        </p:txBody>
      </p:sp>
      <p:sp>
        <p:nvSpPr>
          <p:cNvPr id="6" name="Text 4"/>
          <p:cNvSpPr/>
          <p:nvPr/>
        </p:nvSpPr>
        <p:spPr>
          <a:xfrm>
            <a:off x="2286000" y="2834640"/>
            <a:ext cx="4572000" cy="320040"/>
          </a:xfrm>
          <a:prstGeom prst="rect">
            <a:avLst/>
          </a:prstGeom>
          <a:noFill/>
          <a:ln/>
        </p:spPr>
        <p:txBody>
          <a:bodyPr wrap="square"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[correo@empresa.com]</a:t>
            </a:r>
            <a:endParaRPr lang="en-US" sz="1400" dirty="0"/>
          </a:p>
        </p:txBody>
      </p:sp>
      <p:sp>
        <p:nvSpPr>
          <p:cNvPr id="7" name="Text 5"/>
          <p:cNvSpPr/>
          <p:nvPr/>
        </p:nvSpPr>
        <p:spPr>
          <a:xfrm>
            <a:off x="2286000" y="3200400"/>
            <a:ext cx="4572000" cy="320040"/>
          </a:xfrm>
          <a:prstGeom prst="rect">
            <a:avLst/>
          </a:prstGeom>
          <a:noFill/>
          <a:ln/>
        </p:spPr>
        <p:txBody>
          <a:bodyPr wrap="square"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[+57 XXX XXX XXXX]  ·  WhatsApp</a:t>
            </a:r>
            <a:endParaRPr lang="en-US" sz="1400" dirty="0"/>
          </a:p>
        </p:txBody>
      </p:sp>
      <p:sp>
        <p:nvSpPr>
          <p:cNvPr id="8" name="Text 6"/>
          <p:cNvSpPr/>
          <p:nvPr/>
        </p:nvSpPr>
        <p:spPr>
          <a:xfrm>
            <a:off x="2286000" y="3566160"/>
            <a:ext cx="4572000" cy="320040"/>
          </a:xfrm>
          <a:prstGeom prst="rect">
            <a:avLst/>
          </a:prstGeom>
          <a:noFill/>
          <a:ln/>
        </p:spPr>
        <p:txBody>
          <a:bodyPr wrap="square"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LinkedIn: [perfil]</a:t>
            </a:r>
            <a:endParaRPr lang="en-US" sz="1400" dirty="0"/>
          </a:p>
        </p:txBody>
      </p:sp>
      <p:sp>
        <p:nvSpPr>
          <p:cNvPr id="9" name="Text 7"/>
          <p:cNvSpPr/>
          <p:nvPr/>
        </p:nvSpPr>
        <p:spPr>
          <a:xfrm>
            <a:off x="914400" y="4572000"/>
            <a:ext cx="7315200" cy="365760"/>
          </a:xfrm>
          <a:prstGeom prst="rect">
            <a:avLst/>
          </a:prstGeom>
          <a:noFill/>
          <a:ln/>
        </p:spPr>
        <p:txBody>
          <a:bodyPr wrap="square" rtlCol="0" anchor="ctr"/>
          <a:lstStyle/>
          <a:p>
            <a:pPr algn="ctr" indent="0" marL="0">
              <a:buNone/>
            </a:pPr>
            <a:r>
              <a:rPr lang="en-US" sz="1500" b="1" dirty="0">
                <a:solidFill>
                  <a:srgbClr val="49C5B1"/>
                </a:solidFill>
                <a:latin typeface="Arial" pitchFamily="34" charset="0"/>
                <a:ea typeface="Arial" pitchFamily="34" charset="-122"/>
                <a:cs typeface="Arial" pitchFamily="34" charset="-120"/>
              </a:rPr>
              <a:t>Solicite su piloto gratuito: [link de agendamiento]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Webinar: Simulación Gerencial en el Aula</dc:title>
  <dc:subject>PptxGenJS Presentation</dc:subject>
  <dc:creator>PptxGenJS</dc:creator>
  <cp:lastModifiedBy>PptxGenJS</cp:lastModifiedBy>
  <cp:revision>1</cp:revision>
  <dcterms:created xsi:type="dcterms:W3CDTF">2026-06-26T15:51:18Z</dcterms:created>
  <dcterms:modified xsi:type="dcterms:W3CDTF">2026-06-26T15:51:18Z</dcterms:modified>
</cp:coreProperties>
</file>